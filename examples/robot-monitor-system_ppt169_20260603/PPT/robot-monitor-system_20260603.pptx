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要介绍的是机器人监控系统。这是一个基于三层架构的机器人实时监控与故障排查平台，旨在解决工业机器人运行状态无法实时掌握、故障排查困难的问题。整个系统采用硬件安全兜底、大脑本地决策、平台辅助决策的三级分层决策架构，能够实现对机器人运行状态的全面监控和智能处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介绍系统的总体架构。整个系统采用经典的三层架构设计，具备数据采集和指令控制的双向能力。上层是应用层，即Web监控平台，负责平台辅助决策。提供PC网页端和移动端H5两种访问方式，包含实时监控、异常告警、故障溯源、远程控制和辅助决策分析五大核心功能。对于隐性劣化、复杂关联、疑难故障等复杂异常，平台通过分析三十天以上的历史数据趋势，调用故障知识库，给出诊断建议。中间是服务层，采用Java后端加MySQL数据库，实时存储机器人的运行数据、任务记录和故障日志，同时负责指令下发管理和知识库分析。底层是设备采集层，包含机器人控制柜和机器人大脑。控制柜对接不同品牌机器人，采集启停状态、关节电流温度等关键数据。机器人大脑作为本地实时决策核心，能处理百分之九十以上的运行异常，实现毫秒级响应。特别重要的是硬件安全回路，这是最高优先级的安全防线，急停按钮、安全光栅、碰撞传感器、过流短路等触发时，纯硬件电路直接切断动力电源，不经过大脑软件，确保人身和设备安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介绍平台的关键功能。第一个是实时状态查看功能，系统提供机器人总览看板、单机器人详情页和任务运行日志，每两秒轮询刷新，实时同步机器人的现场运行状态，并自动记录每次任务的开始时间、结束时间和运行结果。页面清晰展示空闲、执行任务、暂停和异常停机四种状态。第二个是异常告警模块，当机器人触发故障时，后端识别异常后会在Web页面弹窗红色告警，同时通过短信和APP消息推送通知相关人员，告警信息包含故障代码、发生时间和对应的任务编号。第三个是故障排查溯源功能，这是本系统的创新亮点。系统内置故障码数据库，可自动匹配故障原因；支持调取故障前五分钟的实时参数曲线，对比正常工况快速定位问题；还能按月统计故障频次，汇总高频故障辅助预防性维护。所有异常记录永久入库归档，工程师无需去现场即可定位故障诱因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介绍三级分层决策架构的详细设计。第一级是硬件安全回路决策，具有最高优先级。当急停按钮被按下、安全光栅或安全门被触发、碰撞传感器硬触发、主电路过流或短路时，硬件继电器直接断开动力电源，机器人瞬间停机。这个过程完全不经过大脑软件逻辑，大脑和平台只能接收急停触发的状态信号，无法干预或取消。这是工业机器人安全设计的强制性要求，避免因软件故障导致安全保护失效。第二级是机器人大脑本地决策，处理百分之九十以上的运行异常。大脑将异常分为三级：一级轻微异常如网络丢包、温度漂移，本地容错补偿后继续运行，仅上报日志；二级中度异常如负载超标、轨迹偏移，暂停当前任务等待平台指令，同时上报异常代码；三级严重异常如超温、编码器中断，紧急停机并锁存故障数据。大脑决策的优势在于实时性、数据本地化、网络中断时仍可保护。第三级是平台辅助决策，处理复杂隐性异常。包括轴承磨损等隐性劣化异常、多机器人协同冲突等复杂关联异常、无明确代码的疑难故障、以及需要与MES或ERP联动的跨系统协调异常。平台与大脑的协同流程是：大脑上报异常原始数据，平台调用历史库和知识库分析诊断，运维人员确认决策后下发处置指令，大脑执行并反馈结果。这种三级架构既保证了致命异常的毫秒级响应，又解决了复杂异常需要人工经验判断的问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汇报导航Agent的进展。目前我们的导航Agent已经完成基础版实现，采用LLM加静态场景图的技术路线。简单说，机器人现在能跑通了。核心链路是：用户说我喝果汁，LLM解析意图，从静态场景图中匹配目标位置，调用底层导航接口让机器人移动到目标坐标，到达后任务结束。但这个基础版存在七大局限。第一，场景图是静态封闭词汇，用户说找充电宝时LLM匹配不到，只能随机选择，导致无法识别未定义物体。第二，规划是扁平的，LLM直接从全量viewpoint中选容易产生幻觉，准确率只有约百分之七十。第三，无动态重规划，走到一半遇到障碍物只能从头规划，响应慢效率低。第四，到达后无视觉核验，机器人到了就说完成但不确认目标是否在那里，导致到了但没找到的投诉多。第五，未知环境盲目探索，目标不在场景图中时机器人原地转圈，探索效率极低。第六，LLM缺乏常识约束，用户说渴了可能导航到厕所而非吧台，用户体验差。第七，Token成本高，每步都调LLM，一百米走廊要调十次，成本高且响应慢每步三到五秒。结论是基础版能跑通核心闭环，但存在准确率、可靠性、成本三大瓶颈，需要系统性优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我们调研了二零二二到二零二六年导航领域的十三篇里程碑论文，制定了四阶段优化路径。第一阶段是工程守底，预计一周，目标是让机器人跑得稳。引入SayCan和Grounded Decoding的安全约束思想，包括结构化输出校验、可执行性评分、关键字段兜底。解决幻觉选错和格式崩坏问题，预期将失败率从百分之十到十五降低到百分之三以内。第二阶段是架构升级，预计两周，目标是让机器人跑得准。引入SayPlan、ConceptGraphs和VLMaps的经典架构，包括层级规划、开放词汇场景图、空间语言理解。解决封闭词汇和扁平规划问题，预期将准确率从百分之七十提升到百分之九十。第三阶段是闭环感知，预计两周，目标是让机器人跑得实。引入SayNav、CoW和PixNav的闭环感知机制，包括动态重规划、到达后视觉核验、像素引导精调。解决无重规划和无核验问题，预期用户投诉率降低百分之五十。第四阶段是降本增效，预计两周，目标是让机器人跑得快跑得省。引入HiRO-Nav、VLFM和ESC的效率优化机制，包括混合推理、定向探索、常识推理注入。解决盲目探索、缺常识和成本高问题，预期Token成本降低百分之六十到八十，响应速度提升五倍。整体路径是从能跑通到跑得稳、跑得准、跑得实、跑得快，预计总工期七周。以上是汇报内容，请各位领导指导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88E5">
                  <a:alpha val="8000"/>
                </a:srgbClr>
              </a:gs>
              <a:gs pos="100000">
                <a:srgbClr val="1E88E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048750" y="-476250"/>
            <a:ext cx="3810000" cy="3810000"/>
          </a:xfrm>
          <a:prstGeom prst="ellipse">
            <a:avLst/>
          </a:prstGeom>
          <a:solidFill>
            <a:srgbClr val="0D47A1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001250" y="4286250"/>
            <a:ext cx="2857500" cy="2857500"/>
          </a:xfrm>
          <a:prstGeom prst="ellipse">
            <a:avLst/>
          </a:prstGeom>
          <a:solidFill>
            <a:srgbClr val="1E88E5">
              <a:alpha val="5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905000"/>
            <a:ext cx="76200" cy="304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D2137"/>
              </a:gs>
              <a:gs pos="100000">
                <a:srgbClr val="1E88E5"/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91540" y="2720340"/>
            <a:ext cx="482650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机器人监控系统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7735" y="3599498"/>
            <a:ext cx="551021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基于三层架构的机器人实时监控与故障排查平台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5355" y="5188268"/>
            <a:ext cx="17175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毕业设计答辩 · 2026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048750" y="2667000"/>
            <a:ext cx="1905000" cy="1905000"/>
            <a:chOff x="9048750" y="2667000"/>
            <a:chExt cx="19050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9048750" y="2667000"/>
              <a:ext cx="1905000" cy="1905000"/>
            </a:xfrm>
            <a:prstGeom prst="roundRect">
              <a:avLst>
                <a:gd name="adj" fmla="val 12000"/>
              </a:avLst>
            </a:prstGeom>
            <a:solidFill>
              <a:srgbClr val="F0F4F8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723438" y="3222625"/>
              <a:ext cx="555624" cy="754063"/>
              <a:chOff x="9723438" y="3222625"/>
              <a:chExt cx="555624" cy="75406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763125" y="3302000"/>
                <a:ext cx="476250" cy="317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17500">
                    <a:moveTo>
                      <a:pt x="0" y="79375"/>
                    </a:moveTo>
                    <a:cubicBezTo>
                      <a:pt x="0" y="35537"/>
                      <a:pt x="35537" y="0"/>
                      <a:pt x="79375" y="0"/>
                    </a:cubicBezTo>
                    <a:lnTo>
                      <a:pt x="396875" y="0"/>
                    </a:lnTo>
                    <a:cubicBezTo>
                      <a:pt x="440713" y="0"/>
                      <a:pt x="476250" y="35537"/>
                      <a:pt x="476250" y="79375"/>
                    </a:cubicBezTo>
                    <a:lnTo>
                      <a:pt x="476250" y="238125"/>
                    </a:lnTo>
                    <a:cubicBezTo>
                      <a:pt x="476250" y="281963"/>
                      <a:pt x="440713" y="317500"/>
                      <a:pt x="396875" y="317500"/>
                    </a:cubicBezTo>
                    <a:lnTo>
                      <a:pt x="79375" y="317500"/>
                    </a:lnTo>
                    <a:cubicBezTo>
                      <a:pt x="35537" y="317500"/>
                      <a:pt x="0" y="281963"/>
                      <a:pt x="0" y="238125"/>
                    </a:cubicBezTo>
                    <a:lnTo>
                      <a:pt x="0" y="79375"/>
                    </a:lnTo>
                  </a:path>
                </a:pathLst>
              </a:custGeom>
              <a:noFill/>
              <a:ln w="19050">
                <a:solidFill>
                  <a:srgbClr val="0D47A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01250" y="3222625"/>
                <a:ext cx="952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9375">
                    <a:moveTo>
                      <a:pt x="0" y="0"/>
                    </a:moveTo>
                    <a:lnTo>
                      <a:pt x="0" y="79375"/>
                    </a:lnTo>
                  </a:path>
                </a:pathLst>
              </a:custGeom>
              <a:noFill/>
              <a:ln w="19050">
                <a:solidFill>
                  <a:srgbClr val="0D47A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82188" y="3619500"/>
                <a:ext cx="952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7188">
                    <a:moveTo>
                      <a:pt x="0" y="0"/>
                    </a:moveTo>
                    <a:lnTo>
                      <a:pt x="0" y="357188"/>
                    </a:lnTo>
                  </a:path>
                </a:pathLst>
              </a:custGeom>
              <a:noFill/>
              <a:ln w="19050">
                <a:solidFill>
                  <a:srgbClr val="0D47A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20312" y="3619500"/>
                <a:ext cx="952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7188">
                    <a:moveTo>
                      <a:pt x="0" y="0"/>
                    </a:moveTo>
                    <a:lnTo>
                      <a:pt x="0" y="357188"/>
                    </a:lnTo>
                  </a:path>
                </a:pathLst>
              </a:custGeom>
              <a:noFill/>
              <a:ln w="19050">
                <a:solidFill>
                  <a:srgbClr val="0D47A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723438" y="3698875"/>
                <a:ext cx="15875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79375">
                    <a:moveTo>
                      <a:pt x="0" y="79375"/>
                    </a:moveTo>
                    <a:lnTo>
                      <a:pt x="158750" y="0"/>
                    </a:lnTo>
                  </a:path>
                </a:pathLst>
              </a:custGeom>
              <a:noFill/>
              <a:ln w="19050">
                <a:solidFill>
                  <a:srgbClr val="0D47A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120312" y="3698875"/>
                <a:ext cx="15875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79375">
                    <a:moveTo>
                      <a:pt x="0" y="0"/>
                    </a:moveTo>
                    <a:lnTo>
                      <a:pt x="158750" y="79375"/>
                    </a:lnTo>
                  </a:path>
                </a:pathLst>
              </a:custGeom>
              <a:noFill/>
              <a:ln w="19050">
                <a:solidFill>
                  <a:srgbClr val="0D47A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882188" y="3857625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9050">
                <a:solidFill>
                  <a:srgbClr val="0D47A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921875" y="3460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97"/>
                    </a:lnTo>
                  </a:path>
                </a:pathLst>
              </a:custGeom>
              <a:noFill/>
              <a:ln w="19050">
                <a:solidFill>
                  <a:srgbClr val="0D47A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080625" y="3460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97"/>
                    </a:lnTo>
                  </a:path>
                </a:pathLst>
              </a:custGeom>
              <a:noFill/>
              <a:ln w="19050">
                <a:solidFill>
                  <a:srgbClr val="0D47A1"/>
                </a:solidFill>
              </a:ln>
            </p:spPr>
          </p:sp>
        </p:grpSp>
      </p:grpSp>
      <p:sp>
        <p:nvSpPr>
          <p:cNvPr id="22" name="Line 22"/>
          <p:cNvSpPr/>
          <p:nvPr/>
        </p:nvSpPr>
        <p:spPr>
          <a:xfrm>
            <a:off x="571500" y="628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9120" y="312420"/>
            <a:ext cx="409346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系统总体架构（三层架构）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6265" y="724852"/>
            <a:ext cx="34500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上层应用层 · 中间服务层 · 底层采集层 · 硬件安全回路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381000" y="1047750"/>
            <a:ext cx="10058400" cy="1000125"/>
            <a:chOff x="381000" y="1047750"/>
            <a:chExt cx="10058400" cy="1000125"/>
          </a:xfrm>
        </p:grpSpPr>
        <p:sp>
          <p:nvSpPr>
            <p:cNvPr id="6" name="Rectangle 6"/>
            <p:cNvSpPr/>
            <p:nvPr/>
          </p:nvSpPr>
          <p:spPr>
            <a:xfrm>
              <a:off x="381000" y="1047750"/>
              <a:ext cx="381000" cy="1000125"/>
            </a:xfrm>
            <a:prstGeom prst="roundRect">
              <a:avLst>
                <a:gd name="adj" fmla="val 2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23479" y="14411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1047750"/>
              <a:ext cx="9525000" cy="1000125"/>
            </a:xfrm>
            <a:prstGeom prst="roundRect">
              <a:avLst>
                <a:gd name="adj" fmla="val 11429"/>
              </a:avLst>
            </a:prstGeom>
            <a:solidFill>
              <a:srgbClr val="E3F2FD"/>
            </a:solidFill>
            <a:ln w="9525">
              <a:solidFill>
                <a:srgbClr val="1565C0"/>
              </a:solidFill>
              <a:custDash>
                <a:ds d="600000" sp="4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89561" y="1160145"/>
              <a:ext cx="25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上层应用层（Web监控平台）—— 平台辅助决策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381125"/>
              <a:ext cx="1388149" cy="552450"/>
              <a:chOff x="1085850" y="1381125"/>
              <a:chExt cx="1388149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085850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190625" y="1495425"/>
                <a:ext cx="171450" cy="161925"/>
                <a:chOff x="1190625" y="1495425"/>
                <a:chExt cx="171450" cy="161925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190625" y="1495425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161925" y="0"/>
                      </a:lnTo>
                      <a:cubicBezTo>
                        <a:pt x="167186" y="0"/>
                        <a:pt x="171450" y="4264"/>
                        <a:pt x="171450" y="9525"/>
                      </a:cubicBezTo>
                      <a:lnTo>
                        <a:pt x="171450" y="104775"/>
                      </a:lnTo>
                      <a:cubicBezTo>
                        <a:pt x="171450" y="110036"/>
                        <a:pt x="167186" y="114300"/>
                        <a:pt x="161925" y="114300"/>
                      </a:cubicBezTo>
                      <a:lnTo>
                        <a:pt x="9525" y="114300"/>
                      </a:lnTo>
                      <a:cubicBezTo>
                        <a:pt x="4264" y="114300"/>
                        <a:pt x="0" y="110036"/>
                        <a:pt x="0" y="1047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28725" y="164782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47775" y="16097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304925" y="16097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452562" y="1497806"/>
                <a:ext cx="71378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PC端 + H5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47762" y="1688306"/>
                <a:ext cx="132623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B/S架构浏览器访问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581275" y="1381125"/>
              <a:ext cx="1463160" cy="552450"/>
              <a:chOff x="2581275" y="1381125"/>
              <a:chExt cx="146316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2581275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2686050" y="1514475"/>
                <a:ext cx="171450" cy="114300"/>
                <a:chOff x="2686050" y="1514475"/>
                <a:chExt cx="171450" cy="1143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752725" y="15525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686050" y="1514475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171450" y="57150"/>
                      </a:moveTo>
                      <a:cubicBezTo>
                        <a:pt x="148590" y="95250"/>
                        <a:pt x="120015" y="114300"/>
                        <a:pt x="85725" y="114300"/>
                      </a:cubicBezTo>
                      <a:cubicBezTo>
                        <a:pt x="51435" y="114300"/>
                        <a:pt x="22860" y="95250"/>
                        <a:pt x="0" y="57150"/>
                      </a:cubicBezTo>
                      <a:cubicBezTo>
                        <a:pt x="22860" y="19050"/>
                        <a:pt x="51435" y="0"/>
                        <a:pt x="85725" y="0"/>
                      </a:cubicBezTo>
                      <a:cubicBezTo>
                        <a:pt x="120015" y="0"/>
                        <a:pt x="148590" y="19050"/>
                        <a:pt x="171450" y="57150"/>
                      </a:cubicBez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2947988" y="14978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实时监控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43188" y="168830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状态看板 · 参数展示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076700" y="1381125"/>
              <a:ext cx="1493162" cy="552450"/>
              <a:chOff x="4076700" y="1381125"/>
              <a:chExt cx="1493162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26" name="Rectangle 26"/>
              <p:cNvSpPr/>
              <p:nvPr/>
            </p:nvSpPr>
            <p:spPr>
              <a:xfrm>
                <a:off x="4076700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4171139" y="1482736"/>
                <a:ext cx="192114" cy="165051"/>
                <a:chOff x="4171139" y="1482736"/>
                <a:chExt cx="192114" cy="165051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4267200" y="15430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171139" y="1482736"/>
                  <a:ext cx="192114" cy="165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114" h="165051">
                      <a:moveTo>
                        <a:pt x="80468" y="8794"/>
                      </a:moveTo>
                      <a:lnTo>
                        <a:pt x="3259" y="137705"/>
                      </a:lnTo>
                      <a:cubicBezTo>
                        <a:pt x="20" y="143314"/>
                        <a:pt x="0" y="150220"/>
                        <a:pt x="3207" y="155848"/>
                      </a:cubicBezTo>
                      <a:cubicBezTo>
                        <a:pt x="6413" y="161475"/>
                        <a:pt x="12365" y="164979"/>
                        <a:pt x="18842" y="165051"/>
                      </a:cubicBezTo>
                      <a:lnTo>
                        <a:pt x="173280" y="165051"/>
                      </a:lnTo>
                      <a:cubicBezTo>
                        <a:pt x="179753" y="164977"/>
                        <a:pt x="185702" y="161474"/>
                        <a:pt x="188908" y="155850"/>
                      </a:cubicBezTo>
                      <a:cubicBezTo>
                        <a:pt x="192114" y="150226"/>
                        <a:pt x="192097" y="143323"/>
                        <a:pt x="188863" y="137715"/>
                      </a:cubicBezTo>
                      <a:lnTo>
                        <a:pt x="111653" y="8784"/>
                      </a:lnTo>
                      <a:cubicBezTo>
                        <a:pt x="108349" y="3331"/>
                        <a:pt x="102437" y="0"/>
                        <a:pt x="96061" y="0"/>
                      </a:cubicBezTo>
                      <a:cubicBezTo>
                        <a:pt x="89685" y="0"/>
                        <a:pt x="83772" y="3331"/>
                        <a:pt x="80468" y="8784"/>
                      </a:cubicBez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267200" y="1609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4443412" y="14978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异常告警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138612" y="1688306"/>
                <a:ext cx="1431250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弹窗 + 短信/APP推送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572125" y="1381125"/>
              <a:ext cx="1463160" cy="552450"/>
              <a:chOff x="5572125" y="1381125"/>
              <a:chExt cx="146316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34" name="Rectangle 34"/>
              <p:cNvSpPr/>
              <p:nvPr/>
            </p:nvSpPr>
            <p:spPr>
              <a:xfrm>
                <a:off x="5572125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5676900" y="1504950"/>
                <a:ext cx="171450" cy="142875"/>
                <a:chOff x="5676900" y="1504950"/>
                <a:chExt cx="171450" cy="142875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5734050" y="150495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38100"/>
                      </a:move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3810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5715000" y="1543050"/>
                  <a:ext cx="952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04775">
                      <a:moveTo>
                        <a:pt x="9525" y="0"/>
                      </a:moveTo>
                      <a:lnTo>
                        <a:pt x="85725" y="0"/>
                      </a:lnTo>
                      <a:cubicBezTo>
                        <a:pt x="91398" y="8502"/>
                        <a:pt x="94687" y="18370"/>
                        <a:pt x="95250" y="28575"/>
                      </a:cubicBezTo>
                      <a:lnTo>
                        <a:pt x="95250" y="57150"/>
                      </a:lnTo>
                      <a:cubicBezTo>
                        <a:pt x="95250" y="83453"/>
                        <a:pt x="73928" y="104775"/>
                        <a:pt x="47625" y="104775"/>
                      </a:cubicBezTo>
                      <a:cubicBezTo>
                        <a:pt x="21322" y="104775"/>
                        <a:pt x="0" y="83453"/>
                        <a:pt x="0" y="57150"/>
                      </a:cubicBezTo>
                      <a:lnTo>
                        <a:pt x="0" y="28575"/>
                      </a:lnTo>
                      <a:cubicBezTo>
                        <a:pt x="563" y="18370"/>
                        <a:pt x="3852" y="8502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5676900" y="158115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810250" y="158115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5762625" y="1590675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686425" y="1619250"/>
                  <a:ext cx="31909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09" h="19050">
                      <a:moveTo>
                        <a:pt x="0" y="19050"/>
                      </a:moveTo>
                      <a:lnTo>
                        <a:pt x="31909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806916" y="1619250"/>
                  <a:ext cx="31909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09" h="19050">
                      <a:moveTo>
                        <a:pt x="31909" y="190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686425" y="1524000"/>
                  <a:ext cx="35719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22860">
                      <a:moveTo>
                        <a:pt x="0" y="0"/>
                      </a:moveTo>
                      <a:lnTo>
                        <a:pt x="35719" y="2286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803106" y="1524000"/>
                  <a:ext cx="35719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22860">
                      <a:moveTo>
                        <a:pt x="35719" y="0"/>
                      </a:moveTo>
                      <a:lnTo>
                        <a:pt x="0" y="2286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5938838" y="14978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故障溯源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634038" y="168830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历史分析 · 定位诱因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067550" y="1381125"/>
              <a:ext cx="1688187" cy="552450"/>
              <a:chOff x="7067550" y="1381125"/>
              <a:chExt cx="1688187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48" name="Rectangle 48"/>
              <p:cNvSpPr/>
              <p:nvPr/>
            </p:nvSpPr>
            <p:spPr>
              <a:xfrm>
                <a:off x="7067550" y="1381125"/>
                <a:ext cx="161925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1E88E5">
                  <a:alpha val="8000"/>
                </a:srgbClr>
              </a:solidFill>
              <a:ln w="9525">
                <a:solidFill>
                  <a:srgbClr val="1E88E5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7172325" y="1485900"/>
                <a:ext cx="171450" cy="171450"/>
                <a:chOff x="7172325" y="1485900"/>
                <a:chExt cx="171450" cy="17145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7172325" y="14859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7229475" y="15525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7434262" y="149780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远程控制下发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129462" y="1688306"/>
                <a:ext cx="162627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暂停·急停·重试·回原点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801100" y="1381125"/>
              <a:ext cx="1485900" cy="552450"/>
              <a:chOff x="8801100" y="1381125"/>
              <a:chExt cx="14859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55" name="Rectangle 55"/>
              <p:cNvSpPr/>
              <p:nvPr/>
            </p:nvSpPr>
            <p:spPr>
              <a:xfrm>
                <a:off x="8801100" y="1381125"/>
                <a:ext cx="14859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9C27B0">
                  <a:alpha val="8000"/>
                </a:srgbClr>
              </a:solidFill>
              <a:ln w="9525">
                <a:solidFill>
                  <a:srgbClr val="9C27B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8915400" y="1514475"/>
                <a:ext cx="152400" cy="133350"/>
                <a:chOff x="8915400" y="1514475"/>
                <a:chExt cx="152400" cy="133350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8915400" y="1638300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915400" y="151447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38100" y="28575"/>
                      </a:lnTo>
                      <a:lnTo>
                        <a:pt x="76200" y="47625"/>
                      </a:lnTo>
                      <a:lnTo>
                        <a:pt x="114300" y="0"/>
                      </a:lnTo>
                      <a:lnTo>
                        <a:pt x="152400" y="3810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9167812" y="149780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辅助决策分析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863012" y="1688306"/>
                <a:ext cx="131123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隐性劣化·复杂关联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238750" y="2047875"/>
            <a:ext cx="1089660" cy="200025"/>
            <a:chOff x="5238750" y="2047875"/>
            <a:chExt cx="1089660" cy="200025"/>
          </a:xfrm>
        </p:grpSpPr>
        <p:sp>
          <p:nvSpPr>
            <p:cNvPr id="63" name="Line 63"/>
            <p:cNvSpPr/>
            <p:nvPr/>
          </p:nvSpPr>
          <p:spPr>
            <a:xfrm>
              <a:off x="5238750" y="2047875"/>
              <a:ext cx="1" cy="190500"/>
            </a:xfrm>
            <a:prstGeom prst="line">
              <a:avLst/>
            </a:prstGeom>
            <a:noFill/>
            <a:ln w="19050">
              <a:solidFill>
                <a:srgbClr val="1E88E5"/>
              </a:solidFill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26380" y="212598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状态上报</a:t>
              </a:r>
            </a:p>
          </p:txBody>
        </p:sp>
        <p:sp>
          <p:nvSpPr>
            <p:cNvPr id="65" name="Line 65"/>
            <p:cNvSpPr/>
            <p:nvPr/>
          </p:nvSpPr>
          <p:spPr>
            <a:xfrm flipV="1">
              <a:off x="5905500" y="2047875"/>
              <a:ext cx="1" cy="190500"/>
            </a:xfrm>
            <a:prstGeom prst="line">
              <a:avLst/>
            </a:prstGeom>
            <a:noFill/>
            <a:ln w="19050">
              <a:solidFill>
                <a:srgbClr val="FF9800"/>
              </a:solidFill>
              <a:tailEnd type="triangle" w="lg" len="lg"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93130" y="212598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指令下发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81000" y="2286000"/>
            <a:ext cx="10058400" cy="1000125"/>
            <a:chOff x="381000" y="2286000"/>
            <a:chExt cx="10058400" cy="1000125"/>
          </a:xfrm>
        </p:grpSpPr>
        <p:sp>
          <p:nvSpPr>
            <p:cNvPr id="68" name="Rectangle 68"/>
            <p:cNvSpPr/>
            <p:nvPr/>
          </p:nvSpPr>
          <p:spPr>
            <a:xfrm>
              <a:off x="381000" y="2286000"/>
              <a:ext cx="381000" cy="1000125"/>
            </a:xfrm>
            <a:prstGeom prst="roundRect">
              <a:avLst>
                <a:gd name="adj" fmla="val 20000"/>
              </a:avLst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23479" y="267938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14400" y="2286000"/>
              <a:ext cx="9525000" cy="1000125"/>
            </a:xfrm>
            <a:prstGeom prst="roundRect">
              <a:avLst>
                <a:gd name="adj" fmla="val 11429"/>
              </a:avLst>
            </a:prstGeom>
            <a:solidFill>
              <a:srgbClr val="EBF5FF"/>
            </a:solidFill>
            <a:ln w="9525">
              <a:solidFill>
                <a:srgbClr val="1E88E5"/>
              </a:solidFill>
              <a:custDash>
                <a:ds d="600000" sp="400000"/>
              </a:custDash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972383" y="2398395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中间服务层（后端核心）</a:t>
              </a:r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1085850" y="2619375"/>
              <a:ext cx="2055733" cy="552450"/>
              <a:chOff x="1085850" y="2619375"/>
              <a:chExt cx="2055733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72" name="Rectangle 72"/>
              <p:cNvSpPr/>
              <p:nvPr/>
            </p:nvSpPr>
            <p:spPr>
              <a:xfrm>
                <a:off x="1085850" y="2619375"/>
                <a:ext cx="1905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77" name="Group 77"/>
              <p:cNvGrpSpPr/>
              <p:nvPr/>
            </p:nvGrpSpPr>
            <p:grpSpPr>
              <a:xfrm>
                <a:off x="1190625" y="2733675"/>
                <a:ext cx="171450" cy="152400"/>
                <a:chOff x="1190625" y="2733675"/>
                <a:chExt cx="171450" cy="152400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1190625" y="2733675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1190625" y="2809875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1228725" y="2771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228725" y="28479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78" name="TextBox 78"/>
              <p:cNvSpPr txBox="1"/>
              <p:nvPr/>
            </p:nvSpPr>
            <p:spPr>
              <a:xfrm>
                <a:off x="1452562" y="2736056"/>
                <a:ext cx="127298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Java后端+MySQL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147762" y="2926556"/>
                <a:ext cx="199382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实时存储·任务记录·故障日志</a:t>
                </a: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3124200" y="2619375"/>
              <a:ext cx="1905000" cy="552450"/>
              <a:chOff x="3124200" y="2619375"/>
              <a:chExt cx="19050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81" name="Rectangle 81"/>
              <p:cNvSpPr/>
              <p:nvPr/>
            </p:nvSpPr>
            <p:spPr>
              <a:xfrm>
                <a:off x="3124200" y="2619375"/>
                <a:ext cx="1905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85" name="Group 85"/>
              <p:cNvGrpSpPr/>
              <p:nvPr/>
            </p:nvGrpSpPr>
            <p:grpSpPr>
              <a:xfrm>
                <a:off x="3218639" y="2720986"/>
                <a:ext cx="192114" cy="165051"/>
                <a:chOff x="3218639" y="2720986"/>
                <a:chExt cx="192114" cy="165051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3314700" y="27813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3218639" y="2720986"/>
                  <a:ext cx="192114" cy="165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114" h="165051">
                      <a:moveTo>
                        <a:pt x="80468" y="8794"/>
                      </a:moveTo>
                      <a:lnTo>
                        <a:pt x="3259" y="137705"/>
                      </a:lnTo>
                      <a:cubicBezTo>
                        <a:pt x="20" y="143314"/>
                        <a:pt x="0" y="150220"/>
                        <a:pt x="3207" y="155848"/>
                      </a:cubicBezTo>
                      <a:cubicBezTo>
                        <a:pt x="6413" y="161475"/>
                        <a:pt x="12365" y="164979"/>
                        <a:pt x="18842" y="165051"/>
                      </a:cubicBezTo>
                      <a:lnTo>
                        <a:pt x="173280" y="165051"/>
                      </a:lnTo>
                      <a:cubicBezTo>
                        <a:pt x="179753" y="164977"/>
                        <a:pt x="185702" y="161474"/>
                        <a:pt x="188908" y="155850"/>
                      </a:cubicBezTo>
                      <a:cubicBezTo>
                        <a:pt x="192114" y="150226"/>
                        <a:pt x="192097" y="143323"/>
                        <a:pt x="188863" y="137715"/>
                      </a:cubicBezTo>
                      <a:lnTo>
                        <a:pt x="111653" y="8784"/>
                      </a:lnTo>
                      <a:cubicBezTo>
                        <a:pt x="108349" y="3331"/>
                        <a:pt x="102437" y="0"/>
                        <a:pt x="96061" y="0"/>
                      </a:cubicBezTo>
                      <a:cubicBezTo>
                        <a:pt x="89685" y="0"/>
                        <a:pt x="83772" y="3331"/>
                        <a:pt x="80468" y="8784"/>
                      </a:cubicBez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3314700" y="28479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86" name="TextBox 86"/>
              <p:cNvSpPr txBox="1"/>
              <p:nvPr/>
            </p:nvSpPr>
            <p:spPr>
              <a:xfrm>
                <a:off x="3490912" y="27360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异常阈值检测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3186112" y="2926556"/>
                <a:ext cx="169378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电流/温度超标→自动标记</a:t>
                </a: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5162550" y="2619375"/>
              <a:ext cx="1905000" cy="552450"/>
              <a:chOff x="5162550" y="2619375"/>
              <a:chExt cx="19050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89" name="Rectangle 89"/>
              <p:cNvSpPr/>
              <p:nvPr/>
            </p:nvSpPr>
            <p:spPr>
              <a:xfrm>
                <a:off x="5162550" y="2619375"/>
                <a:ext cx="1905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5276850" y="2752725"/>
                <a:ext cx="152400" cy="133350"/>
                <a:chOff x="5276850" y="2752725"/>
                <a:chExt cx="152400" cy="133350"/>
              </a:xfrm>
            </p:grpSpPr>
            <p:sp>
              <p:nvSpPr>
                <p:cNvPr id="90" name="Freeform 90"/>
                <p:cNvSpPr/>
                <p:nvPr/>
              </p:nvSpPr>
              <p:spPr>
                <a:xfrm>
                  <a:off x="5276850" y="2876550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5276850" y="275272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38100" y="28575"/>
                      </a:lnTo>
                      <a:lnTo>
                        <a:pt x="76200" y="47625"/>
                      </a:lnTo>
                      <a:lnTo>
                        <a:pt x="114300" y="0"/>
                      </a:lnTo>
                      <a:lnTo>
                        <a:pt x="152400" y="3810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93" name="TextBox 93"/>
              <p:cNvSpPr txBox="1"/>
              <p:nvPr/>
            </p:nvSpPr>
            <p:spPr>
              <a:xfrm>
                <a:off x="5529262" y="273605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全流程数据缓存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5224462" y="2926556"/>
                <a:ext cx="131123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历史数据·故障溯源</a:t>
                </a: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7200900" y="2619375"/>
              <a:ext cx="1524000" cy="552450"/>
              <a:chOff x="7200900" y="2619375"/>
              <a:chExt cx="15240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96" name="Rectangle 96"/>
              <p:cNvSpPr/>
              <p:nvPr/>
            </p:nvSpPr>
            <p:spPr>
              <a:xfrm>
                <a:off x="7200900" y="2619375"/>
                <a:ext cx="1524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9800">
                  <a:alpha val="8000"/>
                </a:srgbClr>
              </a:solidFill>
              <a:ln w="9525">
                <a:solidFill>
                  <a:srgbClr val="FF980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99" name="Group 99"/>
              <p:cNvGrpSpPr/>
              <p:nvPr/>
            </p:nvGrpSpPr>
            <p:grpSpPr>
              <a:xfrm>
                <a:off x="7305675" y="2724150"/>
                <a:ext cx="171450" cy="171450"/>
                <a:chOff x="7305675" y="2724150"/>
                <a:chExt cx="171450" cy="171450"/>
              </a:xfrm>
            </p:grpSpPr>
            <p:sp>
              <p:nvSpPr>
                <p:cNvPr id="97" name="Freeform 97"/>
                <p:cNvSpPr/>
                <p:nvPr/>
              </p:nvSpPr>
              <p:spPr>
                <a:xfrm>
                  <a:off x="7305675" y="27241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7362825" y="27908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00" name="TextBox 100"/>
              <p:cNvSpPr txBox="1"/>
              <p:nvPr/>
            </p:nvSpPr>
            <p:spPr>
              <a:xfrm>
                <a:off x="7567612" y="27360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指令下发管理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7262812" y="2926556"/>
                <a:ext cx="1048702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TCP/MQTT协议</a:t>
                </a: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8858250" y="2619375"/>
              <a:ext cx="1428750" cy="552450"/>
              <a:chOff x="8858250" y="2619375"/>
              <a:chExt cx="142875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03" name="Rectangle 103"/>
              <p:cNvSpPr/>
              <p:nvPr/>
            </p:nvSpPr>
            <p:spPr>
              <a:xfrm>
                <a:off x="8858250" y="2619375"/>
                <a:ext cx="142875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9C27B0">
                  <a:alpha val="8000"/>
                </a:srgbClr>
              </a:solidFill>
              <a:ln w="9525">
                <a:solidFill>
                  <a:srgbClr val="9C27B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07" name="Group 107"/>
              <p:cNvGrpSpPr/>
              <p:nvPr/>
            </p:nvGrpSpPr>
            <p:grpSpPr>
              <a:xfrm>
                <a:off x="8972550" y="2724150"/>
                <a:ext cx="152400" cy="171450"/>
                <a:chOff x="8972550" y="2724150"/>
                <a:chExt cx="152400" cy="171450"/>
              </a:xfrm>
            </p:grpSpPr>
            <p:sp>
              <p:nvSpPr>
                <p:cNvPr id="104" name="Freeform 104"/>
                <p:cNvSpPr/>
                <p:nvPr/>
              </p:nvSpPr>
              <p:spPr>
                <a:xfrm>
                  <a:off x="8972550" y="2724150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05" name="Freeform 105"/>
                <p:cNvSpPr/>
                <p:nvPr/>
              </p:nvSpPr>
              <p:spPr>
                <a:xfrm>
                  <a:off x="8972550" y="275272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8972550" y="280987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08" name="TextBox 108"/>
              <p:cNvSpPr txBox="1"/>
              <p:nvPr/>
            </p:nvSpPr>
            <p:spPr>
              <a:xfrm>
                <a:off x="9224962" y="27360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知识库分析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8920162" y="2926556"/>
                <a:ext cx="131123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故障诊断·趋势预警</a:t>
                </a:r>
              </a:p>
            </p:txBody>
          </p:sp>
        </p:grpSp>
      </p:grpSp>
      <p:grpSp>
        <p:nvGrpSpPr>
          <p:cNvPr id="116" name="Group 116"/>
          <p:cNvGrpSpPr/>
          <p:nvPr/>
        </p:nvGrpSpPr>
        <p:grpSpPr>
          <a:xfrm>
            <a:off x="5238750" y="3286125"/>
            <a:ext cx="1089660" cy="200025"/>
            <a:chOff x="5238750" y="3286125"/>
            <a:chExt cx="1089660" cy="200025"/>
          </a:xfrm>
        </p:grpSpPr>
        <p:sp>
          <p:nvSpPr>
            <p:cNvPr id="112" name="Line 112"/>
            <p:cNvSpPr/>
            <p:nvPr/>
          </p:nvSpPr>
          <p:spPr>
            <a:xfrm>
              <a:off x="5238750" y="3286125"/>
              <a:ext cx="1" cy="190500"/>
            </a:xfrm>
            <a:prstGeom prst="line">
              <a:avLst/>
            </a:prstGeom>
            <a:noFill/>
            <a:ln w="19050">
              <a:solidFill>
                <a:srgbClr val="1E88E5"/>
              </a:solidFill>
              <a:tailEnd type="triangle" w="lg" len="lg"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5326380" y="336423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数据上传</a:t>
              </a:r>
            </a:p>
          </p:txBody>
        </p:sp>
        <p:sp>
          <p:nvSpPr>
            <p:cNvPr id="114" name="Line 114"/>
            <p:cNvSpPr/>
            <p:nvPr/>
          </p:nvSpPr>
          <p:spPr>
            <a:xfrm flipV="1">
              <a:off x="5905500" y="3286125"/>
              <a:ext cx="1" cy="190500"/>
            </a:xfrm>
            <a:prstGeom prst="line">
              <a:avLst/>
            </a:prstGeom>
            <a:noFill/>
            <a:ln w="19050">
              <a:solidFill>
                <a:srgbClr val="FF9800"/>
              </a:solidFill>
              <a:tailEnd type="triangle" w="lg" len="lg"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5993130" y="336423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指令执行</a:t>
              </a:r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381000" y="3524250"/>
            <a:ext cx="10058400" cy="1428750"/>
            <a:chOff x="381000" y="3524250"/>
            <a:chExt cx="10058400" cy="1428750"/>
          </a:xfrm>
        </p:grpSpPr>
        <p:sp>
          <p:nvSpPr>
            <p:cNvPr id="117" name="Rectangle 117"/>
            <p:cNvSpPr/>
            <p:nvPr/>
          </p:nvSpPr>
          <p:spPr>
            <a:xfrm>
              <a:off x="381000" y="3524250"/>
              <a:ext cx="381000" cy="1428750"/>
            </a:xfrm>
            <a:prstGeom prst="roundRect">
              <a:avLst>
                <a:gd name="adj" fmla="val 20000"/>
              </a:avLst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452358" y="4127182"/>
              <a:ext cx="2382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914400" y="3524250"/>
              <a:ext cx="9525000" cy="1428750"/>
            </a:xfrm>
            <a:prstGeom prst="roundRect">
              <a:avLst>
                <a:gd name="adj" fmla="val 8000"/>
              </a:avLst>
            </a:prstGeom>
            <a:solidFill>
              <a:srgbClr val="F0F4F8"/>
            </a:solidFill>
            <a:ln w="9525">
              <a:solidFill>
                <a:srgbClr val="1E88E5"/>
              </a:solidFill>
              <a:custDash>
                <a:ds d="600000" sp="400000"/>
              </a:custDash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4118627" y="3636645"/>
              <a:ext cx="3116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底层采集层（机器人端 + 机器人大脑）—— 本地实时决策</a:t>
              </a:r>
            </a:p>
          </p:txBody>
        </p:sp>
        <p:grpSp>
          <p:nvGrpSpPr>
            <p:cNvPr id="137" name="Group 137"/>
            <p:cNvGrpSpPr/>
            <p:nvPr/>
          </p:nvGrpSpPr>
          <p:grpSpPr>
            <a:xfrm>
              <a:off x="1085850" y="3857625"/>
              <a:ext cx="1755695" cy="1012031"/>
              <a:chOff x="1085850" y="3857625"/>
              <a:chExt cx="1755695" cy="1012031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21" name="Rectangle 121"/>
              <p:cNvSpPr/>
              <p:nvPr/>
            </p:nvSpPr>
            <p:spPr>
              <a:xfrm>
                <a:off x="1085850" y="3857625"/>
                <a:ext cx="1714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31" name="Group 131"/>
              <p:cNvGrpSpPr/>
              <p:nvPr/>
            </p:nvGrpSpPr>
            <p:grpSpPr>
              <a:xfrm>
                <a:off x="1217612" y="3975100"/>
                <a:ext cx="155576" cy="211137"/>
                <a:chOff x="1217612" y="3975100"/>
                <a:chExt cx="155576" cy="211137"/>
              </a:xfrm>
            </p:grpSpPr>
            <p:sp>
              <p:nvSpPr>
                <p:cNvPr id="122" name="Freeform 122"/>
                <p:cNvSpPr/>
                <p:nvPr/>
              </p:nvSpPr>
              <p:spPr>
                <a:xfrm>
                  <a:off x="1228725" y="3997325"/>
                  <a:ext cx="1333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8890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66675"/>
                      </a:lnTo>
                      <a:cubicBezTo>
                        <a:pt x="133350" y="78950"/>
                        <a:pt x="123400" y="88900"/>
                        <a:pt x="111125" y="88900"/>
                      </a:cubicBezTo>
                      <a:lnTo>
                        <a:pt x="22225" y="88900"/>
                      </a:lnTo>
                      <a:cubicBezTo>
                        <a:pt x="9950" y="88900"/>
                        <a:pt x="0" y="78950"/>
                        <a:pt x="0" y="6667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3" name="Freeform 123"/>
                <p:cNvSpPr/>
                <p:nvPr/>
              </p:nvSpPr>
              <p:spPr>
                <a:xfrm>
                  <a:off x="1295400" y="3975100"/>
                  <a:ext cx="95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225">
                      <a:moveTo>
                        <a:pt x="0" y="0"/>
                      </a:move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4" name="Freeform 124"/>
                <p:cNvSpPr/>
                <p:nvPr/>
              </p:nvSpPr>
              <p:spPr>
                <a:xfrm>
                  <a:off x="1262062" y="4086225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5" name="Freeform 125"/>
                <p:cNvSpPr/>
                <p:nvPr/>
              </p:nvSpPr>
              <p:spPr>
                <a:xfrm>
                  <a:off x="1328738" y="4086225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6" name="Freeform 126"/>
                <p:cNvSpPr/>
                <p:nvPr/>
              </p:nvSpPr>
              <p:spPr>
                <a:xfrm>
                  <a:off x="1217612" y="4108450"/>
                  <a:ext cx="44450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2225">
                      <a:moveTo>
                        <a:pt x="0" y="22225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7" name="Freeform 127"/>
                <p:cNvSpPr/>
                <p:nvPr/>
              </p:nvSpPr>
              <p:spPr>
                <a:xfrm>
                  <a:off x="1328738" y="4108450"/>
                  <a:ext cx="44450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2225">
                      <a:moveTo>
                        <a:pt x="0" y="0"/>
                      </a:moveTo>
                      <a:lnTo>
                        <a:pt x="44450" y="222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8" name="Freeform 128"/>
                <p:cNvSpPr/>
                <p:nvPr/>
              </p:nvSpPr>
              <p:spPr>
                <a:xfrm>
                  <a:off x="1262062" y="4152900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9" name="Freeform 129"/>
                <p:cNvSpPr/>
                <p:nvPr/>
              </p:nvSpPr>
              <p:spPr>
                <a:xfrm>
                  <a:off x="1273175" y="4041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30" name="Freeform 130"/>
                <p:cNvSpPr/>
                <p:nvPr/>
              </p:nvSpPr>
              <p:spPr>
                <a:xfrm>
                  <a:off x="1317625" y="4041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32" name="TextBox 132"/>
              <p:cNvSpPr txBox="1"/>
              <p:nvPr/>
            </p:nvSpPr>
            <p:spPr>
              <a:xfrm>
                <a:off x="1490662" y="4021931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机器人控制柜</a:t>
                </a: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1147762" y="4212431"/>
                <a:ext cx="1341239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ABB·安川·国产六轴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1147762" y="4355306"/>
                <a:ext cx="123622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Modbus/原生协议</a:t>
                </a: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1147762" y="4498181"/>
                <a:ext cx="169378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编码器·温度·电压传感器</a:t>
                </a:r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1147762" y="4641056"/>
                <a:ext cx="161127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采集启停状态·关节电流</a:t>
                </a: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2933700" y="3857625"/>
              <a:ext cx="2783919" cy="952500"/>
              <a:chOff x="2933700" y="3857625"/>
              <a:chExt cx="2783919" cy="95250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38" name="Rectangle 138"/>
              <p:cNvSpPr/>
              <p:nvPr/>
            </p:nvSpPr>
            <p:spPr>
              <a:xfrm>
                <a:off x="2933700" y="3857625"/>
                <a:ext cx="2667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E88E5">
                  <a:alpha val="10000"/>
                </a:srgbClr>
              </a:solidFill>
              <a:ln w="19050">
                <a:solidFill>
                  <a:srgbClr val="1E88E5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sp>
            <p:nvSpPr>
              <p:cNvPr id="139" name="Rectangle 139"/>
              <p:cNvSpPr/>
              <p:nvPr/>
            </p:nvSpPr>
            <p:spPr>
              <a:xfrm>
                <a:off x="3048000" y="3971925"/>
                <a:ext cx="3429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1E88E5"/>
              </a:solidFill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44" name="Group 144"/>
              <p:cNvGrpSpPr/>
              <p:nvPr/>
            </p:nvGrpSpPr>
            <p:grpSpPr>
              <a:xfrm>
                <a:off x="3148012" y="4079875"/>
                <a:ext cx="142875" cy="127000"/>
                <a:chOff x="3148012" y="4079875"/>
                <a:chExt cx="142875" cy="127000"/>
              </a:xfrm>
            </p:grpSpPr>
            <p:sp>
              <p:nvSpPr>
                <p:cNvPr id="140" name="Freeform 140"/>
                <p:cNvSpPr/>
                <p:nvPr/>
              </p:nvSpPr>
              <p:spPr>
                <a:xfrm>
                  <a:off x="3148012" y="4079875"/>
                  <a:ext cx="14287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63500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19062" y="0"/>
                      </a:lnTo>
                      <a:cubicBezTo>
                        <a:pt x="132214" y="0"/>
                        <a:pt x="142875" y="10661"/>
                        <a:pt x="142875" y="23812"/>
                      </a:cubicBezTo>
                      <a:lnTo>
                        <a:pt x="142875" y="39688"/>
                      </a:lnTo>
                      <a:cubicBezTo>
                        <a:pt x="142875" y="52839"/>
                        <a:pt x="132214" y="63500"/>
                        <a:pt x="119062" y="63500"/>
                      </a:cubicBezTo>
                      <a:lnTo>
                        <a:pt x="23812" y="63500"/>
                      </a:lnTo>
                      <a:cubicBezTo>
                        <a:pt x="10661" y="63500"/>
                        <a:pt x="0" y="52839"/>
                        <a:pt x="0" y="3968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1" name="Freeform 141"/>
                <p:cNvSpPr/>
                <p:nvPr/>
              </p:nvSpPr>
              <p:spPr>
                <a:xfrm>
                  <a:off x="3148012" y="4143375"/>
                  <a:ext cx="14287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63500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19062" y="0"/>
                      </a:lnTo>
                      <a:cubicBezTo>
                        <a:pt x="132214" y="0"/>
                        <a:pt x="142875" y="10661"/>
                        <a:pt x="142875" y="23812"/>
                      </a:cubicBezTo>
                      <a:lnTo>
                        <a:pt x="142875" y="39688"/>
                      </a:lnTo>
                      <a:cubicBezTo>
                        <a:pt x="142875" y="52839"/>
                        <a:pt x="132214" y="63500"/>
                        <a:pt x="119062" y="63500"/>
                      </a:cubicBezTo>
                      <a:lnTo>
                        <a:pt x="23812" y="63500"/>
                      </a:lnTo>
                      <a:cubicBezTo>
                        <a:pt x="10661" y="63500"/>
                        <a:pt x="0" y="52839"/>
                        <a:pt x="0" y="39688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2" name="Freeform 142"/>
                <p:cNvSpPr/>
                <p:nvPr/>
              </p:nvSpPr>
              <p:spPr>
                <a:xfrm>
                  <a:off x="3179762" y="41116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7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3" name="Freeform 143"/>
                <p:cNvSpPr/>
                <p:nvPr/>
              </p:nvSpPr>
              <p:spPr>
                <a:xfrm>
                  <a:off x="3179762" y="41751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7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45" name="TextBox 145"/>
              <p:cNvSpPr txBox="1"/>
              <p:nvPr/>
            </p:nvSpPr>
            <p:spPr>
              <a:xfrm>
                <a:off x="3455670" y="4074795"/>
                <a:ext cx="1661065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机器人大脑（本地决策核心）</a:t>
                </a:r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3033712" y="4241006"/>
                <a:ext cx="215509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★ 90%以上异常本地毫秒级响应</a:t>
                </a: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3033712" y="4383881"/>
                <a:ext cx="268390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Ⅰ级轻微: 容错继续 | Ⅱ级中度: 暂停等待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3033712" y="4526756"/>
                <a:ext cx="217384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Ⅲ级严重: 急停锁数据 | 故障自检</a:t>
                </a: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5734050" y="3857625"/>
              <a:ext cx="1524000" cy="1012031"/>
              <a:chOff x="5734050" y="3857625"/>
              <a:chExt cx="1524000" cy="1012031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50" name="Rectangle 150"/>
              <p:cNvSpPr/>
              <p:nvPr/>
            </p:nvSpPr>
            <p:spPr>
              <a:xfrm>
                <a:off x="5734050" y="3857625"/>
                <a:ext cx="152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54" name="Group 154"/>
              <p:cNvGrpSpPr/>
              <p:nvPr/>
            </p:nvGrpSpPr>
            <p:grpSpPr>
              <a:xfrm>
                <a:off x="5876925" y="4008438"/>
                <a:ext cx="133350" cy="155575"/>
                <a:chOff x="5876925" y="4008438"/>
                <a:chExt cx="133350" cy="155575"/>
              </a:xfrm>
            </p:grpSpPr>
            <p:sp>
              <p:nvSpPr>
                <p:cNvPr id="151" name="Freeform 151"/>
                <p:cNvSpPr/>
                <p:nvPr/>
              </p:nvSpPr>
              <p:spPr>
                <a:xfrm>
                  <a:off x="5943600" y="4008438"/>
                  <a:ext cx="9525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5575">
                      <a:moveTo>
                        <a:pt x="0" y="0"/>
                      </a:moveTo>
                      <a:lnTo>
                        <a:pt x="0" y="1555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52" name="Freeform 152"/>
                <p:cNvSpPr/>
                <p:nvPr/>
              </p:nvSpPr>
              <p:spPr>
                <a:xfrm>
                  <a:off x="5943600" y="40973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66675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53" name="Freeform 153"/>
                <p:cNvSpPr/>
                <p:nvPr/>
              </p:nvSpPr>
              <p:spPr>
                <a:xfrm>
                  <a:off x="5876925" y="40973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0"/>
                      </a:moveTo>
                      <a:lnTo>
                        <a:pt x="66675" y="666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55" name="TextBox 155"/>
              <p:cNvSpPr txBox="1"/>
              <p:nvPr/>
            </p:nvSpPr>
            <p:spPr>
              <a:xfrm>
                <a:off x="6138862" y="40219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通讯模块</a:t>
                </a:r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5795962" y="4212431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4G/以太网DTU</a:t>
                </a:r>
              </a:p>
            </p:txBody>
          </p:sp>
          <p:sp>
            <p:nvSpPr>
              <p:cNvPr id="157" name="TextBox 157"/>
              <p:cNvSpPr txBox="1"/>
              <p:nvPr/>
            </p:nvSpPr>
            <p:spPr>
              <a:xfrm>
                <a:off x="5795962" y="4355306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↑数据上传云端</a:t>
                </a:r>
              </a:p>
            </p:txBody>
          </p:sp>
          <p:sp>
            <p:nvSpPr>
              <p:cNvPr id="158" name="TextBox 158"/>
              <p:cNvSpPr txBox="1"/>
              <p:nvPr/>
            </p:nvSpPr>
            <p:spPr>
              <a:xfrm>
                <a:off x="5795962" y="44981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↓接收控制指令</a:t>
                </a:r>
              </a:p>
            </p:txBody>
          </p:sp>
          <p:sp>
            <p:nvSpPr>
              <p:cNvPr id="159" name="TextBox 159"/>
              <p:cNvSpPr txBox="1"/>
              <p:nvPr/>
            </p:nvSpPr>
            <p:spPr>
              <a:xfrm>
                <a:off x="5795962" y="46410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实时双向通讯</a:t>
                </a:r>
              </a:p>
            </p:txBody>
          </p:sp>
        </p:grpSp>
        <p:grpSp>
          <p:nvGrpSpPr>
            <p:cNvPr id="170" name="Group 170"/>
            <p:cNvGrpSpPr/>
            <p:nvPr/>
          </p:nvGrpSpPr>
          <p:grpSpPr>
            <a:xfrm>
              <a:off x="7410450" y="3857625"/>
              <a:ext cx="1428750" cy="1012031"/>
              <a:chOff x="7410450" y="3857625"/>
              <a:chExt cx="1428750" cy="1012031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61" name="Rectangle 161"/>
              <p:cNvSpPr/>
              <p:nvPr/>
            </p:nvSpPr>
            <p:spPr>
              <a:xfrm>
                <a:off x="7410450" y="3857625"/>
                <a:ext cx="1428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9800">
                  <a:alpha val="8000"/>
                </a:srgbClr>
              </a:solidFill>
              <a:ln w="9525">
                <a:solidFill>
                  <a:srgbClr val="FF980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64" name="Group 164"/>
              <p:cNvGrpSpPr/>
              <p:nvPr/>
            </p:nvGrpSpPr>
            <p:grpSpPr>
              <a:xfrm>
                <a:off x="7519988" y="3986212"/>
                <a:ext cx="200025" cy="200025"/>
                <a:chOff x="7519988" y="3986212"/>
                <a:chExt cx="200025" cy="200025"/>
              </a:xfrm>
            </p:grpSpPr>
            <p:sp>
              <p:nvSpPr>
                <p:cNvPr id="162" name="Freeform 162"/>
                <p:cNvSpPr/>
                <p:nvPr/>
              </p:nvSpPr>
              <p:spPr>
                <a:xfrm>
                  <a:off x="7519988" y="3986212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63" name="Freeform 163"/>
                <p:cNvSpPr/>
                <p:nvPr/>
              </p:nvSpPr>
              <p:spPr>
                <a:xfrm>
                  <a:off x="7586662" y="4064000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65" name="TextBox 165"/>
              <p:cNvSpPr txBox="1"/>
              <p:nvPr/>
            </p:nvSpPr>
            <p:spPr>
              <a:xfrm>
                <a:off x="7815262" y="40219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指令执行</a:t>
                </a:r>
              </a:p>
            </p:txBody>
          </p:sp>
          <p:sp>
            <p:nvSpPr>
              <p:cNvPr id="166" name="TextBox 166"/>
              <p:cNvSpPr txBox="1"/>
              <p:nvPr/>
            </p:nvSpPr>
            <p:spPr>
              <a:xfrm>
                <a:off x="7472362" y="4212431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接收平台指令</a:t>
                </a:r>
              </a:p>
            </p:txBody>
          </p:sp>
          <p:sp>
            <p:nvSpPr>
              <p:cNvPr id="167" name="TextBox 167"/>
              <p:cNvSpPr txBox="1"/>
              <p:nvPr/>
            </p:nvSpPr>
            <p:spPr>
              <a:xfrm>
                <a:off x="7472362" y="4355306"/>
                <a:ext cx="109370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暂停·急停·重试</a:t>
                </a:r>
              </a:p>
            </p:txBody>
          </p:sp>
          <p:sp>
            <p:nvSpPr>
              <p:cNvPr id="168" name="TextBox 168"/>
              <p:cNvSpPr txBox="1"/>
              <p:nvPr/>
            </p:nvSpPr>
            <p:spPr>
              <a:xfrm>
                <a:off x="7472362" y="4498181"/>
                <a:ext cx="47863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回原点</a:t>
                </a:r>
              </a:p>
            </p:txBody>
          </p:sp>
          <p:sp>
            <p:nvSpPr>
              <p:cNvPr id="169" name="TextBox 169"/>
              <p:cNvSpPr txBox="1"/>
              <p:nvPr/>
            </p:nvSpPr>
            <p:spPr>
              <a:xfrm>
                <a:off x="7472362" y="46410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执行结果反馈</a:t>
                </a: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8991600" y="3857625"/>
              <a:ext cx="1295400" cy="962025"/>
              <a:chOff x="8991600" y="3857625"/>
              <a:chExt cx="1295400" cy="962025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71" name="Rectangle 171"/>
              <p:cNvSpPr/>
              <p:nvPr/>
            </p:nvSpPr>
            <p:spPr>
              <a:xfrm>
                <a:off x="8991600" y="3857625"/>
                <a:ext cx="12954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44336">
                  <a:alpha val="10000"/>
                </a:srgbClr>
              </a:solidFill>
              <a:ln w="19050">
                <a:solidFill>
                  <a:srgbClr val="F44336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75" name="Group 175"/>
              <p:cNvGrpSpPr/>
              <p:nvPr/>
            </p:nvGrpSpPr>
            <p:grpSpPr>
              <a:xfrm>
                <a:off x="9089079" y="3982521"/>
                <a:ext cx="224133" cy="192560"/>
                <a:chOff x="9089079" y="3982521"/>
                <a:chExt cx="224133" cy="192560"/>
              </a:xfrm>
            </p:grpSpPr>
            <p:sp>
              <p:nvSpPr>
                <p:cNvPr id="172" name="Freeform 172"/>
                <p:cNvSpPr/>
                <p:nvPr/>
              </p:nvSpPr>
              <p:spPr>
                <a:xfrm>
                  <a:off x="9201150" y="4052888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73" name="Freeform 173"/>
                <p:cNvSpPr/>
                <p:nvPr/>
              </p:nvSpPr>
              <p:spPr>
                <a:xfrm>
                  <a:off x="9089079" y="3982521"/>
                  <a:ext cx="224133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3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2"/>
                      </a:cubicBezTo>
                      <a:cubicBezTo>
                        <a:pt x="7482" y="188388"/>
                        <a:pt x="14426" y="192475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2" y="192473"/>
                        <a:pt x="216652" y="188387"/>
                        <a:pt x="220393" y="181825"/>
                      </a:cubicBezTo>
                      <a:cubicBezTo>
                        <a:pt x="224133" y="175263"/>
                        <a:pt x="224113" y="167210"/>
                        <a:pt x="220340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09" y="0"/>
                        <a:pt x="112071" y="0"/>
                      </a:cubicBezTo>
                      <a:cubicBezTo>
                        <a:pt x="104632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74" name="Freeform 174"/>
                <p:cNvSpPr/>
                <p:nvPr/>
              </p:nvSpPr>
              <p:spPr>
                <a:xfrm>
                  <a:off x="9201150" y="41306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76" name="TextBox 176"/>
              <p:cNvSpPr txBox="1"/>
              <p:nvPr/>
            </p:nvSpPr>
            <p:spPr>
              <a:xfrm>
                <a:off x="9399270" y="4046220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硬件安全回路</a:t>
                </a:r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9060180" y="4269105"/>
                <a:ext cx="435292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最高优先级</a:t>
                </a:r>
              </a:p>
            </p:txBody>
          </p:sp>
          <p:sp>
            <p:nvSpPr>
              <p:cNvPr id="178" name="TextBox 178"/>
              <p:cNvSpPr txBox="1"/>
              <p:nvPr/>
            </p:nvSpPr>
            <p:spPr>
              <a:xfrm>
                <a:off x="9060180" y="4411980"/>
                <a:ext cx="583311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急停·光栅·碰撞</a:t>
                </a:r>
              </a:p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9060180" y="4554855"/>
                <a:ext cx="539306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过流·短路保护</a:t>
                </a:r>
              </a:p>
            </p:txBody>
          </p:sp>
          <p:sp>
            <p:nvSpPr>
              <p:cNvPr id="180" name="TextBox 180"/>
              <p:cNvSpPr txBox="1"/>
              <p:nvPr/>
            </p:nvSpPr>
            <p:spPr>
              <a:xfrm>
                <a:off x="9060180" y="4697730"/>
                <a:ext cx="699326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纯硬件·不经过大脑</a:t>
                </a:r>
              </a:p>
            </p:txBody>
          </p:sp>
        </p:grpSp>
      </p:grpSp>
      <p:grpSp>
        <p:nvGrpSpPr>
          <p:cNvPr id="211" name="Group 211"/>
          <p:cNvGrpSpPr/>
          <p:nvPr/>
        </p:nvGrpSpPr>
        <p:grpSpPr>
          <a:xfrm>
            <a:off x="381000" y="5095875"/>
            <a:ext cx="11430000" cy="1381125"/>
            <a:chOff x="381000" y="5095875"/>
            <a:chExt cx="11430000" cy="1381125"/>
          </a:xfrm>
        </p:grpSpPr>
        <p:sp>
          <p:nvSpPr>
            <p:cNvPr id="183" name="Rectangle 183"/>
            <p:cNvSpPr/>
            <p:nvPr/>
          </p:nvSpPr>
          <p:spPr>
            <a:xfrm>
              <a:off x="381000" y="5095875"/>
              <a:ext cx="11430000" cy="1381125"/>
            </a:xfrm>
            <a:prstGeom prst="roundRect">
              <a:avLst>
                <a:gd name="adj" fmla="val 6897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sp>
          <p:nvSpPr>
            <p:cNvPr id="184" name="TextBox 184"/>
            <p:cNvSpPr txBox="1"/>
            <p:nvPr/>
          </p:nvSpPr>
          <p:spPr>
            <a:xfrm>
              <a:off x="558165" y="52206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三级分层决策架构</a:t>
              </a:r>
            </a:p>
          </p:txBody>
        </p:sp>
        <p:grpSp>
          <p:nvGrpSpPr>
            <p:cNvPr id="192" name="Group 192"/>
            <p:cNvGrpSpPr/>
            <p:nvPr/>
          </p:nvGrpSpPr>
          <p:grpSpPr>
            <a:xfrm>
              <a:off x="571500" y="5476875"/>
              <a:ext cx="2476500" cy="857250"/>
              <a:chOff x="571500" y="5476875"/>
              <a:chExt cx="2476500" cy="857250"/>
            </a:xfrm>
          </p:grpSpPr>
          <p:sp>
            <p:nvSpPr>
              <p:cNvPr id="185" name="Rectangle 185"/>
              <p:cNvSpPr/>
              <p:nvPr/>
            </p:nvSpPr>
            <p:spPr>
              <a:xfrm>
                <a:off x="571500" y="5476875"/>
                <a:ext cx="2476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44336">
                  <a:alpha val="6000"/>
                </a:srgbClr>
              </a:solidFill>
              <a:ln w="9525">
                <a:solidFill>
                  <a:srgbClr val="F44336"/>
                </a:solidFill>
              </a:ln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674370" y="5589270"/>
                <a:ext cx="113809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① 硬件安全回路决策</a:t>
                </a:r>
              </a:p>
            </p:txBody>
          </p:sp>
          <p:sp>
            <p:nvSpPr>
              <p:cNvPr id="187" name="TextBox 187"/>
              <p:cNvSpPr txBox="1"/>
              <p:nvPr/>
            </p:nvSpPr>
            <p:spPr>
              <a:xfrm>
                <a:off x="671512" y="5736431"/>
                <a:ext cx="19038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触发: 急停·光栅·碰撞·过流</a:t>
                </a:r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671512" y="5879306"/>
                <a:ext cx="18062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执行: 纯硬件电路切断动力</a:t>
                </a:r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671512" y="6022181"/>
                <a:ext cx="20388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特点: 不经过大脑·毫秒级响应</a:t>
                </a:r>
              </a:p>
            </p:txBody>
          </p:sp>
          <p:sp>
            <p:nvSpPr>
              <p:cNvPr id="190" name="Rectangle 190"/>
              <p:cNvSpPr/>
              <p:nvPr/>
            </p:nvSpPr>
            <p:spPr>
              <a:xfrm>
                <a:off x="2286000" y="6000750"/>
                <a:ext cx="6477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44336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2295525" y="60412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最高优先</a:t>
                </a:r>
              </a:p>
            </p:txBody>
          </p:sp>
        </p:grpSp>
        <p:grpSp>
          <p:nvGrpSpPr>
            <p:cNvPr id="200" name="Group 200"/>
            <p:cNvGrpSpPr/>
            <p:nvPr/>
          </p:nvGrpSpPr>
          <p:grpSpPr>
            <a:xfrm>
              <a:off x="3238500" y="5476875"/>
              <a:ext cx="3238500" cy="857250"/>
              <a:chOff x="3238500" y="5476875"/>
              <a:chExt cx="3238500" cy="857250"/>
            </a:xfrm>
          </p:grpSpPr>
          <p:sp>
            <p:nvSpPr>
              <p:cNvPr id="193" name="Rectangle 193"/>
              <p:cNvSpPr/>
              <p:nvPr/>
            </p:nvSpPr>
            <p:spPr>
              <a:xfrm>
                <a:off x="3238500" y="5476875"/>
                <a:ext cx="3238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1E88E5">
                  <a:alpha val="6000"/>
                </a:srgbClr>
              </a:solidFill>
              <a:ln w="9525">
                <a:solidFill>
                  <a:srgbClr val="1E88E5"/>
                </a:solidFill>
              </a:ln>
            </p:spPr>
          </p:sp>
          <p:sp>
            <p:nvSpPr>
              <p:cNvPr id="194" name="TextBox 194"/>
              <p:cNvSpPr txBox="1"/>
              <p:nvPr/>
            </p:nvSpPr>
            <p:spPr>
              <a:xfrm>
                <a:off x="3341370" y="5589270"/>
                <a:ext cx="20454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② 机器人大脑本地决策（90%+异常）</a:t>
                </a:r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3338512" y="5736431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Ⅰ级轻微: 本地容错继续运行</a:t>
                </a:r>
              </a:p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3338512" y="5879306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Ⅱ级中度: 暂停任务等待指令</a:t>
                </a:r>
              </a:p>
            </p:txBody>
          </p:sp>
          <p:sp>
            <p:nvSpPr>
              <p:cNvPr id="197" name="TextBox 197"/>
              <p:cNvSpPr txBox="1"/>
              <p:nvPr/>
            </p:nvSpPr>
            <p:spPr>
              <a:xfrm>
                <a:off x="3338512" y="6022181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Ⅲ级严重: 紧急停机锁存数据</a:t>
                </a:r>
              </a:p>
            </p:txBody>
          </p:sp>
          <p:sp>
            <p:nvSpPr>
              <p:cNvPr id="198" name="Rectangle 198"/>
              <p:cNvSpPr/>
              <p:nvPr/>
            </p:nvSpPr>
            <p:spPr>
              <a:xfrm>
                <a:off x="5715000" y="6000750"/>
                <a:ext cx="6477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1E88E5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9" name="TextBox 199"/>
              <p:cNvSpPr txBox="1"/>
              <p:nvPr/>
            </p:nvSpPr>
            <p:spPr>
              <a:xfrm>
                <a:off x="5724525" y="60412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毫秒响应</a:t>
                </a: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6667500" y="5476875"/>
              <a:ext cx="3238500" cy="857250"/>
              <a:chOff x="6667500" y="5476875"/>
              <a:chExt cx="3238500" cy="857250"/>
            </a:xfrm>
          </p:grpSpPr>
          <p:sp>
            <p:nvSpPr>
              <p:cNvPr id="201" name="Rectangle 201"/>
              <p:cNvSpPr/>
              <p:nvPr/>
            </p:nvSpPr>
            <p:spPr>
              <a:xfrm>
                <a:off x="6667500" y="5476875"/>
                <a:ext cx="3238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9C27B0">
                  <a:alpha val="6000"/>
                </a:srgbClr>
              </a:solidFill>
              <a:ln w="9525">
                <a:solidFill>
                  <a:srgbClr val="9C27B0"/>
                </a:solidFill>
              </a:ln>
            </p:spPr>
          </p:sp>
          <p:sp>
            <p:nvSpPr>
              <p:cNvPr id="202" name="TextBox 202"/>
              <p:cNvSpPr txBox="1"/>
              <p:nvPr/>
            </p:nvSpPr>
            <p:spPr>
              <a:xfrm>
                <a:off x="6770370" y="5589270"/>
                <a:ext cx="19635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③ 平台辅助/人工决策（复杂异常）</a:t>
                </a:r>
              </a:p>
            </p:txBody>
          </p:sp>
          <p:sp>
            <p:nvSpPr>
              <p:cNvPr id="203" name="TextBox 203"/>
              <p:cNvSpPr txBox="1"/>
              <p:nvPr/>
            </p:nvSpPr>
            <p:spPr>
              <a:xfrm>
                <a:off x="6767512" y="5736431"/>
                <a:ext cx="20388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隐性劣化: 轴承磨损·齿轮老化</a:t>
                </a:r>
              </a:p>
            </p:txBody>
          </p:sp>
          <p:sp>
            <p:nvSpPr>
              <p:cNvPr id="204" name="TextBox 204"/>
              <p:cNvSpPr txBox="1"/>
              <p:nvPr/>
            </p:nvSpPr>
            <p:spPr>
              <a:xfrm>
                <a:off x="6767512" y="5879306"/>
                <a:ext cx="19563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复杂关联: 多机器人协同冲突</a:t>
                </a:r>
              </a:p>
            </p:txBody>
          </p:sp>
          <p:sp>
            <p:nvSpPr>
              <p:cNvPr id="205" name="TextBox 205"/>
              <p:cNvSpPr txBox="1"/>
              <p:nvPr/>
            </p:nvSpPr>
            <p:spPr>
              <a:xfrm>
                <a:off x="6767512" y="6022181"/>
                <a:ext cx="21888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疑难故障: 无明确代码·间歇发作</a:t>
                </a:r>
              </a:p>
            </p:txBody>
          </p:sp>
          <p:sp>
            <p:nvSpPr>
              <p:cNvPr id="206" name="Rectangle 206"/>
              <p:cNvSpPr/>
              <p:nvPr/>
            </p:nvSpPr>
            <p:spPr>
              <a:xfrm>
                <a:off x="9144000" y="6000750"/>
                <a:ext cx="6477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9C27B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9153525" y="60412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人工确认</a:t>
                </a:r>
              </a:p>
            </p:txBody>
          </p:sp>
        </p:grpSp>
        <p:sp>
          <p:nvSpPr>
            <p:cNvPr id="209" name="Line 209"/>
            <p:cNvSpPr/>
            <p:nvPr/>
          </p:nvSpPr>
          <p:spPr>
            <a:xfrm>
              <a:off x="3048000" y="5905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0D2137"/>
              </a:solidFill>
              <a:custDash>
                <a:ds d="266666" sp="133333"/>
              </a:custDash>
            </a:ln>
          </p:spPr>
        </p:sp>
        <p:sp>
          <p:nvSpPr>
            <p:cNvPr id="210" name="Line 210"/>
            <p:cNvSpPr/>
            <p:nvPr/>
          </p:nvSpPr>
          <p:spPr>
            <a:xfrm>
              <a:off x="6477000" y="5905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0D2137"/>
              </a:solidFill>
              <a:custDash>
                <a:ds d="266666" sp="133333"/>
              </a:custDash>
            </a:ln>
          </p:spPr>
        </p:sp>
      </p:grpSp>
      <p:sp>
        <p:nvSpPr>
          <p:cNvPr id="212" name="TextBox 212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2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7" grpId="0"/>
      <p:bldP spid="111" grpId="0"/>
      <p:bldP spid="116" grpId="0"/>
      <p:bldP spid="182" grpId="0"/>
      <p:bldP spid="2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9120" y="312420"/>
            <a:ext cx="27492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平台关键功能详解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6265" y="724852"/>
            <a:ext cx="25889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实时状态监控 · 异常告警 · 故障排查溯源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381000" y="1095375"/>
            <a:ext cx="3619500" cy="5143500"/>
            <a:chOff x="381000" y="1095375"/>
            <a:chExt cx="3619500" cy="5143500"/>
          </a:xfrm>
        </p:grpSpPr>
        <p:sp>
          <p:nvSpPr>
            <p:cNvPr id="6" name="Rectangle 6"/>
            <p:cNvSpPr/>
            <p:nvPr/>
          </p:nvSpPr>
          <p:spPr>
            <a:xfrm>
              <a:off x="381000" y="1095375"/>
              <a:ext cx="3619500" cy="5143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381000" y="1095375"/>
              <a:ext cx="3619500" cy="53340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1E88E5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400175"/>
              <a:ext cx="3619500" cy="228600"/>
            </a:xfrm>
            <a:prstGeom prst="rect">
              <a:avLst/>
            </a:prstGeom>
            <a:gradFill>
              <a:gsLst>
                <a:gs pos="0">
                  <a:srgbClr val="1E88E5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09600" y="1285875"/>
              <a:ext cx="228600" cy="152400"/>
              <a:chOff x="609600" y="1285875"/>
              <a:chExt cx="228600" cy="152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98500" y="13366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09600" y="1285875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228600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600" y="762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52500" y="12668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实时状态查看功能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180975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0065" y="1934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核心页面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09600" y="2247900"/>
              <a:ext cx="76200" cy="76200"/>
            </a:xfrm>
            <a:prstGeom prst="ellipse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6762" y="22026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机器人总览看板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09600" y="2495550"/>
              <a:ext cx="76200" cy="76200"/>
            </a:xfrm>
            <a:prstGeom prst="ellipse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6762" y="24503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单机器人详情页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09600" y="2743200"/>
              <a:ext cx="76200" cy="76200"/>
            </a:xfrm>
            <a:prstGeom prst="ellipse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6762" y="26979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任务运行日志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099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0065" y="31346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数据刷新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81375"/>
              <a:ext cx="762000" cy="285750"/>
            </a:xfrm>
            <a:prstGeom prst="roundRect">
              <a:avLst>
                <a:gd name="adj" fmla="val 20000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0762" y="3426142"/>
              <a:ext cx="3272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2秒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95412" y="345043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轮询刷新，实时同步运行状态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8100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0065" y="39347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任务台账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09600" y="424815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6762" y="4202906"/>
              <a:ext cx="19113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自动记录任务开始/结束时间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9600" y="449580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6762" y="4450556"/>
              <a:ext cx="21513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运行结果：正常完成 / 异常终止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1994" y="48887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空闲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31445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43025" y="4888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执行任务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09550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FF9800">
                <a:alpha val="1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274094" y="48887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暂停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87655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F44336">
                <a:alpha val="1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905125" y="4888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异常停机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286250" y="1095375"/>
            <a:ext cx="3619500" cy="5143500"/>
            <a:chOff x="4286250" y="1095375"/>
            <a:chExt cx="3619500" cy="5143500"/>
          </a:xfrm>
        </p:grpSpPr>
        <p:sp>
          <p:nvSpPr>
            <p:cNvPr id="41" name="Rectangle 41"/>
            <p:cNvSpPr/>
            <p:nvPr/>
          </p:nvSpPr>
          <p:spPr>
            <a:xfrm>
              <a:off x="4286250" y="1095375"/>
              <a:ext cx="3619500" cy="5143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4286250" y="1095375"/>
              <a:ext cx="3619500" cy="53340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F44336"/>
                </a:gs>
                <a:gs pos="100000">
                  <a:srgbClr val="EF535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286250" y="1400175"/>
              <a:ext cx="3619500" cy="228600"/>
            </a:xfrm>
            <a:prstGeom prst="rect">
              <a:avLst/>
            </a:prstGeom>
            <a:gradFill>
              <a:gsLst>
                <a:gs pos="0">
                  <a:srgbClr val="F44336"/>
                </a:gs>
                <a:gs pos="100000">
                  <a:srgbClr val="EF5350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501069" y="1243556"/>
              <a:ext cx="256152" cy="220068"/>
              <a:chOff x="4501069" y="1243556"/>
              <a:chExt cx="256152" cy="22006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629150" y="1323975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501069" y="1243556"/>
                <a:ext cx="256152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2" h="220068">
                    <a:moveTo>
                      <a:pt x="107291" y="11725"/>
                    </a:moveTo>
                    <a:lnTo>
                      <a:pt x="4345" y="183607"/>
                    </a:lnTo>
                    <a:cubicBezTo>
                      <a:pt x="26" y="191085"/>
                      <a:pt x="0" y="200294"/>
                      <a:pt x="4276" y="207797"/>
                    </a:cubicBezTo>
                    <a:cubicBezTo>
                      <a:pt x="8551" y="215300"/>
                      <a:pt x="16487" y="219971"/>
                      <a:pt x="25122" y="220068"/>
                    </a:cubicBezTo>
                    <a:lnTo>
                      <a:pt x="231040" y="220068"/>
                    </a:lnTo>
                    <a:cubicBezTo>
                      <a:pt x="239671" y="219969"/>
                      <a:pt x="247602" y="215299"/>
                      <a:pt x="251877" y="207800"/>
                    </a:cubicBezTo>
                    <a:cubicBezTo>
                      <a:pt x="256152" y="200301"/>
                      <a:pt x="256129" y="191097"/>
                      <a:pt x="251817" y="183619"/>
                    </a:cubicBezTo>
                    <a:lnTo>
                      <a:pt x="148871" y="11712"/>
                    </a:lnTo>
                    <a:cubicBezTo>
                      <a:pt x="144466" y="4441"/>
                      <a:pt x="136582" y="0"/>
                      <a:pt x="128081" y="0"/>
                    </a:cubicBezTo>
                    <a:cubicBezTo>
                      <a:pt x="119580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629150" y="1412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4857750" y="12668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异常告警模块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38650" y="180975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425315" y="19345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告警触发流程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438650" y="2190750"/>
              <a:ext cx="3314700" cy="400050"/>
            </a:xfrm>
            <a:prstGeom prst="roundRect">
              <a:avLst>
                <a:gd name="adj" fmla="val 14286"/>
              </a:avLst>
            </a:prstGeom>
            <a:solidFill>
              <a:srgbClr val="F44336">
                <a:alpha val="6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22470" y="2265045"/>
              <a:ext cx="3757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91112" y="22407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机器人触发故障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096000" y="25908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F44336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6057900" y="27051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F4433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438650" y="2800350"/>
              <a:ext cx="3314700" cy="400050"/>
            </a:xfrm>
            <a:prstGeom prst="roundRect">
              <a:avLst>
                <a:gd name="adj" fmla="val 14286"/>
              </a:avLst>
            </a:prstGeom>
            <a:solidFill>
              <a:srgbClr val="F44336">
                <a:alpha val="6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522470" y="28746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91112" y="28503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后端识别异常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0" y="3200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F44336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6057900" y="33147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F4433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438650" y="3409950"/>
              <a:ext cx="3314700" cy="400050"/>
            </a:xfrm>
            <a:prstGeom prst="roundRect">
              <a:avLst>
                <a:gd name="adj" fmla="val 14286"/>
              </a:avLst>
            </a:prstGeom>
            <a:solidFill>
              <a:srgbClr val="F44336">
                <a:alpha val="10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522470" y="34842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091112" y="34599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Web页面弹窗红色告警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438650" y="40005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425315" y="41252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告警通知方式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4514850" y="4438650"/>
              <a:ext cx="76200" cy="7620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72012" y="4393406"/>
              <a:ext cx="1206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Web页面弹窗告警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4514850" y="4686300"/>
              <a:ext cx="76200" cy="7620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672012" y="46410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短信推送通知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4514850" y="4933950"/>
              <a:ext cx="76200" cy="7620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672012" y="4888706"/>
              <a:ext cx="8761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APP消息推送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438650" y="52197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425315" y="53444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告警附带信息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438650" y="5581650"/>
              <a:ext cx="952500" cy="247650"/>
            </a:xfrm>
            <a:prstGeom prst="roundRect">
              <a:avLst>
                <a:gd name="adj" fmla="val 15385"/>
              </a:avLst>
            </a:prstGeom>
            <a:solidFill>
              <a:srgbClr val="0D47A1">
                <a:alpha val="6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600575" y="56316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故障代码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486400" y="5581650"/>
              <a:ext cx="952500" cy="247650"/>
            </a:xfrm>
            <a:prstGeom prst="roundRect">
              <a:avLst>
                <a:gd name="adj" fmla="val 15385"/>
              </a:avLst>
            </a:prstGeom>
            <a:solidFill>
              <a:srgbClr val="0D47A1">
                <a:alpha val="6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648325" y="56316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发生时间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534150" y="5581650"/>
              <a:ext cx="952500" cy="247650"/>
            </a:xfrm>
            <a:prstGeom prst="roundRect">
              <a:avLst>
                <a:gd name="adj" fmla="val 15385"/>
              </a:avLst>
            </a:prstGeom>
            <a:solidFill>
              <a:srgbClr val="0D47A1">
                <a:alpha val="6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96075" y="56316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任务编号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8191500" y="1095375"/>
            <a:ext cx="3619500" cy="5143500"/>
            <a:chOff x="8191500" y="1095375"/>
            <a:chExt cx="3619500" cy="5143500"/>
          </a:xfrm>
        </p:grpSpPr>
        <p:sp>
          <p:nvSpPr>
            <p:cNvPr id="81" name="Rectangle 81"/>
            <p:cNvSpPr/>
            <p:nvPr/>
          </p:nvSpPr>
          <p:spPr>
            <a:xfrm>
              <a:off x="8191500" y="1095375"/>
              <a:ext cx="3619500" cy="5143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spPr>
        </p:sp>
        <p:sp>
          <p:nvSpPr>
            <p:cNvPr id="82" name="Rectangle 82"/>
            <p:cNvSpPr/>
            <p:nvPr/>
          </p:nvSpPr>
          <p:spPr>
            <a:xfrm>
              <a:off x="8191500" y="1095375"/>
              <a:ext cx="3619500" cy="53340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FF9800"/>
                </a:gs>
                <a:gs pos="100000">
                  <a:srgbClr val="FFA72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191500" y="1400175"/>
              <a:ext cx="3619500" cy="228600"/>
            </a:xfrm>
            <a:prstGeom prst="rect">
              <a:avLst/>
            </a:prstGeom>
            <a:gradFill>
              <a:gsLst>
                <a:gs pos="0">
                  <a:srgbClr val="FF9800"/>
                </a:gs>
                <a:gs pos="100000">
                  <a:srgbClr val="FFA726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8420100" y="1273175"/>
              <a:ext cx="228600" cy="190500"/>
              <a:chOff x="8420100" y="1273175"/>
              <a:chExt cx="228600" cy="1905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8496300" y="127317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508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508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470900" y="1323975"/>
                <a:ext cx="1270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39700">
                    <a:moveTo>
                      <a:pt x="12700" y="0"/>
                    </a:moveTo>
                    <a:lnTo>
                      <a:pt x="114300" y="0"/>
                    </a:lnTo>
                    <a:cubicBezTo>
                      <a:pt x="121864" y="11336"/>
                      <a:pt x="126250" y="24493"/>
                      <a:pt x="127000" y="38100"/>
                    </a:cubicBezTo>
                    <a:lnTo>
                      <a:pt x="127000" y="76200"/>
                    </a:lnTo>
                    <a:cubicBezTo>
                      <a:pt x="127000" y="111270"/>
                      <a:pt x="98570" y="139700"/>
                      <a:pt x="63500" y="139700"/>
                    </a:cubicBezTo>
                    <a:cubicBezTo>
                      <a:pt x="28430" y="139700"/>
                      <a:pt x="0" y="111270"/>
                      <a:pt x="0" y="76200"/>
                    </a:cubicBezTo>
                    <a:lnTo>
                      <a:pt x="0" y="38100"/>
                    </a:lnTo>
                    <a:cubicBezTo>
                      <a:pt x="750" y="24493"/>
                      <a:pt x="5136" y="11336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420100" y="1374775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597900" y="1374775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534400" y="138747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762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432800" y="1425575"/>
                <a:ext cx="4254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25400">
                    <a:moveTo>
                      <a:pt x="0" y="25400"/>
                    </a:moveTo>
                    <a:lnTo>
                      <a:pt x="4254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593455" y="1425575"/>
                <a:ext cx="4254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25400">
                    <a:moveTo>
                      <a:pt x="42545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432800" y="1298575"/>
                <a:ext cx="47625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0480">
                    <a:moveTo>
                      <a:pt x="0" y="0"/>
                    </a:moveTo>
                    <a:lnTo>
                      <a:pt x="47625" y="3048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588375" y="1298575"/>
                <a:ext cx="47625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0480">
                    <a:moveTo>
                      <a:pt x="47625" y="0"/>
                    </a:moveTo>
                    <a:lnTo>
                      <a:pt x="0" y="3048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8763000" y="12668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故障排查溯源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0287000" y="12382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435304" y="1303020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重点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343900" y="180975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330565" y="19345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在线初步诊断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343900" y="2171700"/>
              <a:ext cx="3314700" cy="647700"/>
            </a:xfrm>
            <a:prstGeom prst="roundRect">
              <a:avLst>
                <a:gd name="adj" fmla="val 11765"/>
              </a:avLst>
            </a:prstGeom>
            <a:solidFill>
              <a:srgbClr val="FF9800">
                <a:alpha val="4000"/>
              </a:srgbClr>
            </a:solidFill>
            <a:ln w="4762">
              <a:solidFill>
                <a:srgbClr val="FF9800"/>
              </a:solidFill>
              <a:custDash>
                <a:ds d="800000" sp="600000"/>
              </a:custDash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482012" y="22598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内置故障码数据库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484870" y="2493645"/>
              <a:ext cx="1721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报故障代码 → 自动匹配故障原因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484870" y="2665095"/>
              <a:ext cx="1859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（过载 / 伺服故障 / 通讯中断等）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8343900" y="30099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330565" y="31346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历史数据复盘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8343900" y="3371850"/>
              <a:ext cx="3314700" cy="647700"/>
            </a:xfrm>
            <a:prstGeom prst="roundRect">
              <a:avLst>
                <a:gd name="adj" fmla="val 11765"/>
              </a:avLst>
            </a:prstGeom>
            <a:solidFill>
              <a:srgbClr val="1E88E5">
                <a:alpha val="4000"/>
              </a:srgbClr>
            </a:solidFill>
            <a:ln w="4762">
              <a:solidFill>
                <a:srgbClr val="1E88E5"/>
              </a:solidFill>
              <a:custDash>
                <a:ds d="800000" sp="600000"/>
              </a:custDash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477250" y="3467100"/>
              <a:ext cx="647700" cy="247650"/>
            </a:xfrm>
            <a:prstGeom prst="roundRect">
              <a:avLst>
                <a:gd name="adj" fmla="val 23077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629720" y="3525202"/>
              <a:ext cx="342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5min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224962" y="35171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故障前实时参数曲线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484870" y="3808095"/>
              <a:ext cx="21291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对比正常工况，快速定位硬件/程序问题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8343900" y="41529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8330565" y="42776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故障分类统计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343900" y="4514850"/>
              <a:ext cx="3314700" cy="647700"/>
            </a:xfrm>
            <a:prstGeom prst="roundRect">
              <a:avLst>
                <a:gd name="adj" fmla="val 11765"/>
              </a:avLst>
            </a:prstGeom>
            <a:solidFill>
              <a:srgbClr val="1565C0">
                <a:alpha val="4000"/>
              </a:srgbClr>
            </a:solidFill>
            <a:ln w="4762">
              <a:solidFill>
                <a:srgbClr val="1565C0"/>
              </a:solidFill>
              <a:custDash>
                <a:ds d="800000" sp="600000"/>
              </a:custDash>
            </a:ln>
          </p:spPr>
        </p:sp>
        <p:sp>
          <p:nvSpPr>
            <p:cNvPr id="113" name="Ellipse 113"/>
            <p:cNvSpPr/>
            <p:nvPr/>
          </p:nvSpPr>
          <p:spPr>
            <a:xfrm>
              <a:off x="8458200" y="470535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615362" y="46601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按月统计故障频次</a:t>
              </a: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8458200" y="495300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8615362" y="49077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汇总高频故障，辅助预防性维护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8343900" y="5314950"/>
              <a:ext cx="3314700" cy="381000"/>
            </a:xfrm>
            <a:prstGeom prst="roundRect">
              <a:avLst>
                <a:gd name="adj" fmla="val 20000"/>
              </a:avLst>
            </a:prstGeom>
            <a:solidFill>
              <a:srgbClr val="0D47A1">
                <a:alpha val="4000"/>
              </a:srgbClr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8484870" y="5455920"/>
              <a:ext cx="17870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无需去现场，即可定位故障诱因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504170" y="5455920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所有异常永久归档</a:t>
              </a:r>
            </a:p>
          </p:txBody>
        </p:sp>
      </p:grpSp>
      <p:sp>
        <p:nvSpPr>
          <p:cNvPr id="121" name="TextBox 121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3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80" grpId="0"/>
      <p:bldP spid="1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9120" y="312420"/>
            <a:ext cx="34213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三级分层决策架构详解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6265" y="724852"/>
            <a:ext cx="28690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硬件安全兜底 → 大脑本地决策 → 平台辅助决策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381000" y="1047750"/>
            <a:ext cx="3619500" cy="2476500"/>
            <a:chOff x="381000" y="1047750"/>
            <a:chExt cx="3619500" cy="2476500"/>
          </a:xfrm>
        </p:grpSpPr>
        <p:sp>
          <p:nvSpPr>
            <p:cNvPr id="6" name="Rectangle 6"/>
            <p:cNvSpPr/>
            <p:nvPr/>
          </p:nvSpPr>
          <p:spPr>
            <a:xfrm>
              <a:off x="381000" y="1047750"/>
              <a:ext cx="3619500" cy="2476500"/>
            </a:xfrm>
            <a:prstGeom prst="roundRect">
              <a:avLst>
                <a:gd name="adj" fmla="val 4615"/>
              </a:avLst>
            </a:prstGeom>
            <a:solidFill>
              <a:srgbClr val="F44336">
                <a:alpha val="4000"/>
              </a:srgbClr>
            </a:solidFill>
            <a:ln w="19050">
              <a:solidFill>
                <a:srgbClr val="F4433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047750"/>
              <a:ext cx="3619500" cy="419100"/>
            </a:xfrm>
            <a:prstGeom prst="roundRect">
              <a:avLst>
                <a:gd name="adj" fmla="val 27273"/>
              </a:avLst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276350"/>
              <a:ext cx="3619500" cy="190500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32017" y="1203960"/>
              <a:ext cx="15174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 硬件安全回路决策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8800" y="1450181"/>
              <a:ext cx="26238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最高优先级 · 不经过大脑 · 纯硬件实现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1970" y="17602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触发场景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33400" y="1952625"/>
              <a:ext cx="1571625" cy="266700"/>
              <a:chOff x="533400" y="1952625"/>
              <a:chExt cx="1571625" cy="2667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19526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628650" y="20478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9620" y="2026920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急停按钮被按下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209800" y="1952625"/>
              <a:ext cx="1571625" cy="266700"/>
              <a:chOff x="2209800" y="1952625"/>
              <a:chExt cx="1571625" cy="2667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209800" y="19526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305050" y="20478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446020" y="2026920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安全光栅/门触发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2295525"/>
              <a:ext cx="1571625" cy="266700"/>
              <a:chOff x="533400" y="2295525"/>
              <a:chExt cx="1571625" cy="2667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33400" y="22955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28650" y="23907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9620" y="23698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碰撞传感器硬触发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209800" y="2295525"/>
              <a:ext cx="1571625" cy="266700"/>
              <a:chOff x="2209800" y="2295525"/>
              <a:chExt cx="1571625" cy="2667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209800" y="22955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2305050" y="23907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446020" y="2369820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主电路过流/短路</a:t>
                </a:r>
              </a:p>
            </p:txBody>
          </p:sp>
        </p:grpSp>
        <p:sp>
          <p:nvSpPr>
            <p:cNvPr id="28" name="Rectangle 28"/>
            <p:cNvSpPr/>
            <p:nvPr/>
          </p:nvSpPr>
          <p:spPr>
            <a:xfrm>
              <a:off x="533400" y="2686050"/>
              <a:ext cx="3314700" cy="361950"/>
            </a:xfrm>
            <a:prstGeom prst="roundRect">
              <a:avLst>
                <a:gd name="adj" fmla="val 15789"/>
              </a:avLst>
            </a:prstGeom>
            <a:solidFill>
              <a:srgbClr val="F44336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2717006"/>
              <a:ext cx="745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执行逻辑: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270" y="2874645"/>
              <a:ext cx="25611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硬件继电器直接断开动力电源 → 机器人瞬间停机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143250"/>
              <a:ext cx="3314700" cy="266700"/>
            </a:xfrm>
            <a:prstGeom prst="roundRect">
              <a:avLst>
                <a:gd name="adj" fmla="val 14286"/>
              </a:avLst>
            </a:prstGeom>
            <a:solidFill>
              <a:srgbClr val="0D47A1">
                <a:alpha val="3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6270" y="3217545"/>
              <a:ext cx="2915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大脑和平台只能接收"急停触发"信号，无法干预或取消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286250" y="1047750"/>
            <a:ext cx="4258359" cy="2476500"/>
            <a:chOff x="4286250" y="1047750"/>
            <a:chExt cx="4258359" cy="2476500"/>
          </a:xfrm>
        </p:grpSpPr>
        <p:sp>
          <p:nvSpPr>
            <p:cNvPr id="34" name="Rectangle 34"/>
            <p:cNvSpPr/>
            <p:nvPr/>
          </p:nvSpPr>
          <p:spPr>
            <a:xfrm>
              <a:off x="4286250" y="1047750"/>
              <a:ext cx="3810000" cy="2476500"/>
            </a:xfrm>
            <a:prstGeom prst="roundRect">
              <a:avLst>
                <a:gd name="adj" fmla="val 4615"/>
              </a:avLst>
            </a:prstGeom>
            <a:solidFill>
              <a:srgbClr val="1E88E5">
                <a:alpha val="4000"/>
              </a:srgbClr>
            </a:solidFill>
            <a:ln w="19050">
              <a:solidFill>
                <a:srgbClr val="1E88E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286250" y="1047750"/>
              <a:ext cx="3810000" cy="419100"/>
            </a:xfrm>
            <a:prstGeom prst="roundRect">
              <a:avLst>
                <a:gd name="adj" fmla="val 27273"/>
              </a:avLst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86250" y="1276350"/>
              <a:ext cx="3810000" cy="190500"/>
            </a:xfrm>
            <a:prstGeom prst="rect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48507" y="1203960"/>
              <a:ext cx="16854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 机器人大脑本地决策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5516" y="1450181"/>
              <a:ext cx="31714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90%以上运行异常 · 毫秒级响应 · 无需等待平台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27220" y="176022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异常分级处置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438650" y="1952625"/>
              <a:ext cx="3505200" cy="228600"/>
            </a:xfrm>
            <a:prstGeom prst="roundRect">
              <a:avLst>
                <a:gd name="adj" fmla="val 16667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05362" y="19740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等级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10212" y="19740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典型场景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43712" y="19740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处置动作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438650" y="2219325"/>
              <a:ext cx="3505200" cy="28575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8000"/>
              </a:srgb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38650" y="2219325"/>
              <a:ext cx="342900" cy="285750"/>
            </a:xfrm>
            <a:prstGeom prst="roundRect">
              <a:avLst>
                <a:gd name="adj" fmla="val 13333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64016" y="23031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81562" y="22026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轻微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10212" y="2202656"/>
              <a:ext cx="13937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网络丢包·温漂·噪声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43712" y="220265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本地容错·继续运行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16880" y="2392680"/>
              <a:ext cx="41529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仅上报日志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438650" y="2543175"/>
              <a:ext cx="3505200" cy="285750"/>
            </a:xfrm>
            <a:prstGeom prst="roundRect">
              <a:avLst>
                <a:gd name="adj" fmla="val 13333"/>
              </a:avLst>
            </a:prstGeom>
            <a:solidFill>
              <a:srgbClr val="FF9800">
                <a:alpha val="8000"/>
              </a:srgb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38650" y="2543175"/>
              <a:ext cx="342900" cy="285750"/>
            </a:xfrm>
            <a:prstGeom prst="roundRect">
              <a:avLst>
                <a:gd name="adj" fmla="val 1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64016" y="26269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Ⅱ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81562" y="25265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中度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10212" y="252650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负载超标·轨迹偏移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43712" y="252650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暂停任务·等待指令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16880" y="2716530"/>
              <a:ext cx="85934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上报异常代码·触发告警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438650" y="2867025"/>
              <a:ext cx="3505200" cy="285750"/>
            </a:xfrm>
            <a:prstGeom prst="roundRect">
              <a:avLst>
                <a:gd name="adj" fmla="val 13333"/>
              </a:avLst>
            </a:prstGeom>
            <a:solidFill>
              <a:srgbClr val="F44336">
                <a:alpha val="8000"/>
              </a:srgbClr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438650" y="2867025"/>
              <a:ext cx="342900" cy="285750"/>
            </a:xfrm>
            <a:prstGeom prst="roundRect">
              <a:avLst>
                <a:gd name="adj" fmla="val 13333"/>
              </a:avLst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564016" y="29508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Ⅲ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81562" y="28503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严重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510212" y="2850356"/>
              <a:ext cx="1161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超温·编码器中断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43712" y="285035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紧急停机·锁存数据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516880" y="3040380"/>
              <a:ext cx="93935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上报紧急告警·故障寄存器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438650" y="3238500"/>
              <a:ext cx="3505200" cy="209550"/>
            </a:xfrm>
            <a:prstGeom prst="roundRect">
              <a:avLst>
                <a:gd name="adj" fmla="val 18182"/>
              </a:avLst>
            </a:prstGeom>
            <a:solidFill>
              <a:srgbClr val="1E88E5">
                <a:alpha val="6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38662" y="3250406"/>
              <a:ext cx="40059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优势: 实时性(毫秒级) · 数据本地化 · 网络中断仍可保护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382000" y="1047750"/>
            <a:ext cx="3429000" cy="2476500"/>
            <a:chOff x="8382000" y="1047750"/>
            <a:chExt cx="3429000" cy="2476500"/>
          </a:xfrm>
        </p:grpSpPr>
        <p:sp>
          <p:nvSpPr>
            <p:cNvPr id="68" name="Rectangle 68"/>
            <p:cNvSpPr/>
            <p:nvPr/>
          </p:nvSpPr>
          <p:spPr>
            <a:xfrm>
              <a:off x="8382000" y="1047750"/>
              <a:ext cx="3429000" cy="2476500"/>
            </a:xfrm>
            <a:prstGeom prst="roundRect">
              <a:avLst>
                <a:gd name="adj" fmla="val 4615"/>
              </a:avLst>
            </a:prstGeom>
            <a:solidFill>
              <a:srgbClr val="9C27B0">
                <a:alpha val="4000"/>
              </a:srgbClr>
            </a:solidFill>
            <a:ln w="19050">
              <a:solidFill>
                <a:srgbClr val="9C27B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2000" y="1047750"/>
              <a:ext cx="3429000" cy="419100"/>
            </a:xfrm>
            <a:prstGeom prst="roundRect">
              <a:avLst>
                <a:gd name="adj" fmla="val 27273"/>
              </a:avLst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82000" y="1276350"/>
              <a:ext cx="3429000" cy="190500"/>
            </a:xfrm>
            <a:prstGeom prst="rect">
              <a:avLst/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505788" y="120396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 平台辅助决策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8267" y="1450181"/>
              <a:ext cx="31564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复杂/隐性异常 · 历史数据分析 · 人工经验判断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22970" y="176022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平台处理的异常类型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8534400" y="1952625"/>
              <a:ext cx="3124200" cy="247650"/>
              <a:chOff x="8534400" y="1952625"/>
              <a:chExt cx="3124200" cy="2476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8534400" y="195262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8629650" y="203835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8770620" y="2017395"/>
                <a:ext cx="24171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隐性劣化: 轴承磨损·齿轮老化·电机性能下降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8534400" y="2238375"/>
              <a:ext cx="3124200" cy="247650"/>
              <a:chOff x="8534400" y="2238375"/>
              <a:chExt cx="3124200" cy="24765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8534400" y="223837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8629650" y="232410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8770620" y="2303145"/>
                <a:ext cx="23511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复杂关联: 多机器人协同冲突·产线联动异常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534400" y="2524125"/>
              <a:ext cx="3124200" cy="247650"/>
              <a:chOff x="8534400" y="2524125"/>
              <a:chExt cx="3124200" cy="24765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8534400" y="252412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8629650" y="260985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8770620" y="2588895"/>
                <a:ext cx="187109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疑难故障: 无明确代码·间歇性发作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8534400" y="2809875"/>
              <a:ext cx="3124200" cy="247650"/>
              <a:chOff x="8534400" y="2809875"/>
              <a:chExt cx="3124200" cy="24765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534400" y="280987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629650" y="289560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8770620" y="2874645"/>
                <a:ext cx="19310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跨系统协调: 与MES/ERP联动的异常</a:t>
                </a:r>
              </a:p>
            </p:txBody>
          </p:sp>
        </p:grpSp>
        <p:sp>
          <p:nvSpPr>
            <p:cNvPr id="90" name="Rectangle 90"/>
            <p:cNvSpPr/>
            <p:nvPr/>
          </p:nvSpPr>
          <p:spPr>
            <a:xfrm>
              <a:off x="8534400" y="3143250"/>
              <a:ext cx="3124200" cy="266700"/>
            </a:xfrm>
            <a:prstGeom prst="roundRect">
              <a:avLst>
                <a:gd name="adj" fmla="val 14286"/>
              </a:avLst>
            </a:prstGeom>
            <a:solidFill>
              <a:srgbClr val="9C27B0">
                <a:alpha val="8000"/>
              </a:srgbClr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637270" y="3217545"/>
              <a:ext cx="29527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平台能力: 30天历史趋势 · 故障知识库 · 同型号对比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381000" y="3667125"/>
            <a:ext cx="11430000" cy="1333500"/>
            <a:chOff x="381000" y="3667125"/>
            <a:chExt cx="11430000" cy="1333500"/>
          </a:xfrm>
        </p:grpSpPr>
        <p:sp>
          <p:nvSpPr>
            <p:cNvPr id="93" name="Rectangle 93"/>
            <p:cNvSpPr/>
            <p:nvPr/>
          </p:nvSpPr>
          <p:spPr>
            <a:xfrm>
              <a:off x="381000" y="3667125"/>
              <a:ext cx="11430000" cy="1333500"/>
            </a:xfrm>
            <a:prstGeom prst="roundRect">
              <a:avLst>
                <a:gd name="adj" fmla="val 8571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58165" y="3839528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平台与大脑的决策协同流程</a:t>
              </a:r>
            </a:p>
          </p:txBody>
        </p:sp>
        <p:grpSp>
          <p:nvGrpSpPr>
            <p:cNvPr id="99" name="Group 99"/>
            <p:cNvGrpSpPr/>
            <p:nvPr/>
          </p:nvGrpSpPr>
          <p:grpSpPr>
            <a:xfrm>
              <a:off x="571500" y="4143375"/>
              <a:ext cx="1714500" cy="666750"/>
              <a:chOff x="571500" y="4143375"/>
              <a:chExt cx="1714500" cy="666750"/>
            </a:xfrm>
          </p:grpSpPr>
          <p:sp>
            <p:nvSpPr>
              <p:cNvPr id="95" name="Rectangle 95"/>
              <p:cNvSpPr/>
              <p:nvPr/>
            </p:nvSpPr>
            <p:spPr>
              <a:xfrm>
                <a:off x="57150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E88E5">
                  <a:alpha val="8000"/>
                </a:srgbClr>
              </a:solidFill>
              <a:ln w="9525">
                <a:solidFill>
                  <a:srgbClr val="1E88E5"/>
                </a:solidFill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1193935" y="4212431"/>
                <a:ext cx="4696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Step 1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05727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大脑上报异常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923151" y="45362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原始数据→平台</a:t>
                </a:r>
              </a:p>
            </p:txBody>
          </p:sp>
        </p:grpSp>
        <p:sp>
          <p:nvSpPr>
            <p:cNvPr id="100" name="Line 100"/>
            <p:cNvSpPr/>
            <p:nvPr/>
          </p:nvSpPr>
          <p:spPr>
            <a:xfrm>
              <a:off x="228600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2762250" y="4143375"/>
              <a:ext cx="1714500" cy="666750"/>
              <a:chOff x="2762250" y="4143375"/>
              <a:chExt cx="1714500" cy="666750"/>
            </a:xfrm>
          </p:grpSpPr>
          <p:sp>
            <p:nvSpPr>
              <p:cNvPr id="101" name="Rectangle 101"/>
              <p:cNvSpPr/>
              <p:nvPr/>
            </p:nvSpPr>
            <p:spPr>
              <a:xfrm>
                <a:off x="276225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9C27B0">
                  <a:alpha val="8000"/>
                </a:srgbClr>
              </a:solidFill>
              <a:ln w="9525">
                <a:solidFill>
                  <a:srgbClr val="9C27B0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336499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Step 2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324802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平台分析诊断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3113901" y="45362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历史库·知识库</a:t>
                </a:r>
              </a:p>
            </p:txBody>
          </p:sp>
        </p:grpSp>
        <p:sp>
          <p:nvSpPr>
            <p:cNvPr id="106" name="Line 106"/>
            <p:cNvSpPr/>
            <p:nvPr/>
          </p:nvSpPr>
          <p:spPr>
            <a:xfrm>
              <a:off x="447675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4953000" y="4143375"/>
              <a:ext cx="1714500" cy="666750"/>
              <a:chOff x="4953000" y="4143375"/>
              <a:chExt cx="1714500" cy="666750"/>
            </a:xfrm>
          </p:grpSpPr>
          <p:sp>
            <p:nvSpPr>
              <p:cNvPr id="107" name="Rectangle 107"/>
              <p:cNvSpPr/>
              <p:nvPr/>
            </p:nvSpPr>
            <p:spPr>
              <a:xfrm>
                <a:off x="495300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8000"/>
                </a:srgbClr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555574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Step 3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543877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运维确认决策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5345906" y="4536281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查看分析结果</a:t>
                </a:r>
              </a:p>
            </p:txBody>
          </p:sp>
        </p:grpSp>
        <p:sp>
          <p:nvSpPr>
            <p:cNvPr id="112" name="Line 112"/>
            <p:cNvSpPr/>
            <p:nvPr/>
          </p:nvSpPr>
          <p:spPr>
            <a:xfrm>
              <a:off x="666750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17" name="Group 117"/>
            <p:cNvGrpSpPr/>
            <p:nvPr/>
          </p:nvGrpSpPr>
          <p:grpSpPr>
            <a:xfrm>
              <a:off x="7143750" y="4143375"/>
              <a:ext cx="1714500" cy="666750"/>
              <a:chOff x="7143750" y="4143375"/>
              <a:chExt cx="1714500" cy="666750"/>
            </a:xfrm>
          </p:grpSpPr>
          <p:sp>
            <p:nvSpPr>
              <p:cNvPr id="113" name="Rectangle 113"/>
              <p:cNvSpPr/>
              <p:nvPr/>
            </p:nvSpPr>
            <p:spPr>
              <a:xfrm>
                <a:off x="714375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565C0">
                  <a:alpha val="8000"/>
                </a:srgbClr>
              </a:solidFill>
              <a:ln w="9525">
                <a:solidFill>
                  <a:srgbClr val="1565C0"/>
                </a:solidFill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74649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Step 4</a:t>
                </a: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762952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下发处置指令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7454146" y="4536281"/>
                <a:ext cx="10937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复位·回零·调参</a:t>
                </a:r>
              </a:p>
            </p:txBody>
          </p:sp>
        </p:grpSp>
        <p:sp>
          <p:nvSpPr>
            <p:cNvPr id="118" name="Line 118"/>
            <p:cNvSpPr/>
            <p:nvPr/>
          </p:nvSpPr>
          <p:spPr>
            <a:xfrm>
              <a:off x="885825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9334500" y="4143375"/>
              <a:ext cx="1714500" cy="666750"/>
              <a:chOff x="9334500" y="4143375"/>
              <a:chExt cx="1714500" cy="666750"/>
            </a:xfrm>
          </p:grpSpPr>
          <p:sp>
            <p:nvSpPr>
              <p:cNvPr id="119" name="Rectangle 119"/>
              <p:cNvSpPr/>
              <p:nvPr/>
            </p:nvSpPr>
            <p:spPr>
              <a:xfrm>
                <a:off x="933450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E88E5">
                  <a:alpha val="8000"/>
                </a:srgbClr>
              </a:solidFill>
              <a:ln w="9525">
                <a:solidFill>
                  <a:srgbClr val="1E88E5"/>
                </a:solidFill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993724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Step 5</a:t>
                </a: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982027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大脑执行反馈</a:t>
                </a:r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9686151" y="45362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执行结果→平台</a:t>
                </a:r>
              </a:p>
            </p:txBody>
          </p:sp>
        </p:grpSp>
      </p:grpSp>
      <p:grpSp>
        <p:nvGrpSpPr>
          <p:cNvPr id="147" name="Group 147"/>
          <p:cNvGrpSpPr/>
          <p:nvPr/>
        </p:nvGrpSpPr>
        <p:grpSpPr>
          <a:xfrm>
            <a:off x="381000" y="5143500"/>
            <a:ext cx="11430000" cy="1190625"/>
            <a:chOff x="381000" y="5143500"/>
            <a:chExt cx="11430000" cy="1190625"/>
          </a:xfrm>
        </p:grpSpPr>
        <p:sp>
          <p:nvSpPr>
            <p:cNvPr id="125" name="Rectangle 125"/>
            <p:cNvSpPr/>
            <p:nvPr/>
          </p:nvSpPr>
          <p:spPr>
            <a:xfrm>
              <a:off x="381000" y="5143500"/>
              <a:ext cx="11430000" cy="1190625"/>
            </a:xfrm>
            <a:prstGeom prst="roundRect">
              <a:avLst>
                <a:gd name="adj" fmla="val 8000"/>
              </a:avLst>
            </a:prstGeom>
            <a:solidFill>
              <a:srgbClr val="0D47A1">
                <a:alpha val="2000"/>
              </a:srgbClr>
            </a:solidFill>
            <a:ln w="9525">
              <a:solidFill>
                <a:srgbClr val="E0E0E0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558165" y="53159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论文写作要点</a:t>
              </a:r>
            </a:p>
          </p:txBody>
        </p:sp>
        <p:grpSp>
          <p:nvGrpSpPr>
            <p:cNvPr id="131" name="Group 131"/>
            <p:cNvGrpSpPr/>
            <p:nvPr/>
          </p:nvGrpSpPr>
          <p:grpSpPr>
            <a:xfrm>
              <a:off x="571500" y="5572125"/>
              <a:ext cx="2667000" cy="619125"/>
              <a:chOff x="571500" y="5572125"/>
              <a:chExt cx="2667000" cy="619125"/>
            </a:xfrm>
          </p:grpSpPr>
          <p:sp>
            <p:nvSpPr>
              <p:cNvPr id="127" name="Rectangle 127"/>
              <p:cNvSpPr/>
              <p:nvPr/>
            </p:nvSpPr>
            <p:spPr>
              <a:xfrm>
                <a:off x="571500" y="557212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F44336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671512" y="5622131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硬件安全回路独立性</a:t>
                </a:r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671512" y="5793581"/>
                <a:ext cx="22563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独立于主控系统，是工业机器人</a:t>
                </a:r>
              </a:p>
            </p:txBody>
          </p:sp>
          <p:sp>
            <p:nvSpPr>
              <p:cNvPr id="130" name="TextBox 130"/>
              <p:cNvSpPr txBox="1"/>
              <p:nvPr/>
            </p:nvSpPr>
            <p:spPr>
              <a:xfrm>
                <a:off x="671512" y="5926931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安全设计的强制性要求</a:t>
                </a: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429000" y="5572125"/>
              <a:ext cx="2667000" cy="619125"/>
              <a:chOff x="3429000" y="5572125"/>
              <a:chExt cx="2667000" cy="619125"/>
            </a:xfrm>
          </p:grpSpPr>
          <p:sp>
            <p:nvSpPr>
              <p:cNvPr id="132" name="Rectangle 132"/>
              <p:cNvSpPr/>
              <p:nvPr/>
            </p:nvSpPr>
            <p:spPr>
              <a:xfrm>
                <a:off x="3429000" y="557212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1E88E5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3529012" y="5622131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大脑本地决策必要性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3529012" y="5793581"/>
                <a:ext cx="210633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网络中断时仍需自主安全保护</a:t>
                </a: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3529012" y="5926931"/>
                <a:ext cx="22563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避免远程决策延迟导致故障扩大</a:t>
                </a:r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6286500" y="5572125"/>
              <a:ext cx="2667000" cy="619125"/>
              <a:chOff x="6286500" y="5572125"/>
              <a:chExt cx="2667000" cy="619125"/>
            </a:xfrm>
          </p:grpSpPr>
          <p:sp>
            <p:nvSpPr>
              <p:cNvPr id="137" name="Rectangle 137"/>
              <p:cNvSpPr/>
              <p:nvPr/>
            </p:nvSpPr>
            <p:spPr>
              <a:xfrm>
                <a:off x="6286500" y="557212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9C27B0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6386512" y="562213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平台辅助决策价值</a:t>
                </a: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6386512" y="5793581"/>
                <a:ext cx="17387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弥补大脑算力/存储不足</a:t>
                </a:r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6386512" y="5926931"/>
                <a:ext cx="22563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处理复杂隐性异常需要人工经验</a:t>
                </a: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9144000" y="5572125"/>
              <a:ext cx="2476500" cy="619125"/>
              <a:chOff x="9144000" y="5572125"/>
              <a:chExt cx="2476500" cy="619125"/>
            </a:xfrm>
          </p:grpSpPr>
          <p:sp>
            <p:nvSpPr>
              <p:cNvPr id="142" name="Rectangle 142"/>
              <p:cNvSpPr/>
              <p:nvPr/>
            </p:nvSpPr>
            <p:spPr>
              <a:xfrm>
                <a:off x="9144000" y="5572125"/>
                <a:ext cx="24765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1565C0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9244012" y="562213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三层架构协同优势</a:t>
                </a:r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9244012" y="5793581"/>
                <a:ext cx="15062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致命异常毫秒级响应</a:t>
                </a:r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9244012" y="5926931"/>
                <a:ext cx="16562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复杂问题人工介入决策</a:t>
                </a:r>
              </a:p>
            </p:txBody>
          </p:sp>
        </p:grpSp>
      </p:grpSp>
      <p:sp>
        <p:nvSpPr>
          <p:cNvPr id="148" name="TextBox 148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4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7" grpId="0"/>
      <p:bldP spid="92" grpId="0"/>
      <p:bldP spid="124" grpId="0"/>
      <p:bldP spid="1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2930" y="344805"/>
            <a:ext cx="439038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导航Agent基础版实现与七大局限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5312" y="697706"/>
            <a:ext cx="3066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LLM + 静态场景图技术路线 · 机器人"能跑通"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81000" y="1000125"/>
            <a:ext cx="11430000" cy="714375"/>
            <a:chOff x="381000" y="1000125"/>
            <a:chExt cx="11430000" cy="714375"/>
          </a:xfrm>
        </p:grpSpPr>
        <p:sp>
          <p:nvSpPr>
            <p:cNvPr id="6" name="Rectangle 6"/>
            <p:cNvSpPr/>
            <p:nvPr/>
          </p:nvSpPr>
          <p:spPr>
            <a:xfrm>
              <a:off x="381000" y="1000125"/>
              <a:ext cx="11430000" cy="714375"/>
            </a:xfrm>
            <a:prstGeom prst="roundRect">
              <a:avLst>
                <a:gd name="adj" fmla="val 13333"/>
              </a:avLst>
            </a:prstGeom>
            <a:solidFill>
              <a:srgbClr val="E3F2FD"/>
            </a:solidFill>
            <a:ln w="9525">
              <a:solidFill>
                <a:srgbClr val="1565C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7212" y="1116806"/>
              <a:ext cx="15801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✓ 核心链路（已验证）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571500" y="1352550"/>
              <a:ext cx="2286000" cy="297656"/>
              <a:chOff x="571500" y="1352550"/>
              <a:chExt cx="2286000" cy="297656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352550"/>
                <a:ext cx="2286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71512" y="1421606"/>
                <a:ext cx="15212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① 用户说"我想喝果汁"</a:t>
                </a:r>
              </a:p>
            </p:txBody>
          </p:sp>
        </p:grpSp>
        <p:sp>
          <p:nvSpPr>
            <p:cNvPr id="11" name="Polygon 11"/>
            <p:cNvSpPr/>
            <p:nvPr/>
          </p:nvSpPr>
          <p:spPr>
            <a:xfrm>
              <a:off x="2952750" y="1447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3095625" y="1352550"/>
              <a:ext cx="2476500" cy="297656"/>
              <a:chOff x="3095625" y="1352550"/>
              <a:chExt cx="2476500" cy="297656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095625" y="1352550"/>
                <a:ext cx="2476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195638" y="1421606"/>
                <a:ext cx="17162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② LLM解析意图+匹配位置</a:t>
                </a:r>
              </a:p>
            </p:txBody>
          </p:sp>
        </p:grpSp>
        <p:sp>
          <p:nvSpPr>
            <p:cNvPr id="15" name="Polygon 15"/>
            <p:cNvSpPr/>
            <p:nvPr/>
          </p:nvSpPr>
          <p:spPr>
            <a:xfrm>
              <a:off x="5715000" y="1447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E88E5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857875" y="1352550"/>
              <a:ext cx="2476500" cy="297656"/>
              <a:chOff x="5857875" y="1352550"/>
              <a:chExt cx="2476500" cy="297656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857875" y="1352550"/>
                <a:ext cx="2476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957888" y="1421606"/>
                <a:ext cx="143875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③ 调用导航接口→移动</a:t>
                </a:r>
              </a:p>
            </p:txBody>
          </p:sp>
        </p:grpSp>
        <p:sp>
          <p:nvSpPr>
            <p:cNvPr id="19" name="Polygon 19"/>
            <p:cNvSpPr/>
            <p:nvPr/>
          </p:nvSpPr>
          <p:spPr>
            <a:xfrm>
              <a:off x="8477250" y="1447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620125" y="1352550"/>
              <a:ext cx="1905000" cy="297656"/>
              <a:chOff x="8620125" y="1352550"/>
              <a:chExt cx="1905000" cy="297656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620125" y="1352550"/>
                <a:ext cx="1905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565C0">
                  <a:alpha val="10000"/>
                </a:srgbClr>
              </a:solidFill>
              <a:ln w="9525">
                <a:solidFill>
                  <a:srgbClr val="1565C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720138" y="1421606"/>
                <a:ext cx="139899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④ 到达后任务结束 ✓</a:t>
                </a:r>
              </a:p>
            </p:txBody>
          </p:sp>
        </p:grpSp>
      </p:grpSp>
      <p:grpSp>
        <p:nvGrpSpPr>
          <p:cNvPr id="104" name="Group 104"/>
          <p:cNvGrpSpPr/>
          <p:nvPr/>
        </p:nvGrpSpPr>
        <p:grpSpPr>
          <a:xfrm>
            <a:off x="365760" y="1823085"/>
            <a:ext cx="11016615" cy="4149090"/>
            <a:chOff x="365760" y="1823085"/>
            <a:chExt cx="11016615" cy="4149090"/>
          </a:xfrm>
        </p:grpSpPr>
        <p:sp>
          <p:nvSpPr>
            <p:cNvPr id="24" name="TextBox 24"/>
            <p:cNvSpPr txBox="1"/>
            <p:nvPr/>
          </p:nvSpPr>
          <p:spPr>
            <a:xfrm>
              <a:off x="365760" y="1823085"/>
              <a:ext cx="18535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⚠ 基础版存在的七大局限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1000" y="2095500"/>
              <a:ext cx="11001375" cy="342900"/>
              <a:chOff x="381000" y="2095500"/>
              <a:chExt cx="11001375" cy="3429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81000" y="2095500"/>
                <a:ext cx="571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20666" y="222694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#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1000125" y="2095500"/>
                <a:ext cx="2095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910429" y="22269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局限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3143250" y="2095500"/>
                <a:ext cx="5143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451538" y="2226945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具体表现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334375" y="2095500"/>
                <a:ext cx="3048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720929" y="22269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影响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381000" y="2486025"/>
              <a:ext cx="11001375" cy="457200"/>
              <a:chOff x="381000" y="2486025"/>
              <a:chExt cx="11001375" cy="4572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1000" y="248602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31362" y="2658428"/>
                <a:ext cx="707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000125" y="248602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83494" y="2650331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场景图是静态封闭词汇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3143250" y="248602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246120" y="2598420"/>
                <a:ext cx="18170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用户说"找充电宝"，LLM匹配不到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246120" y="27508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只能随机选择位置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334375" y="248602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5000"/>
                </a:srgbClr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437245" y="2674620"/>
                <a:ext cx="11570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无法识别未定义物体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81000" y="2990850"/>
              <a:ext cx="11001375" cy="457200"/>
              <a:chOff x="381000" y="2990850"/>
              <a:chExt cx="11001375" cy="4572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381000" y="2990850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980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12985" y="31632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1000125" y="2990850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583531" y="31551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规划是扁平的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3143250" y="2990850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246120" y="3103245"/>
                <a:ext cx="16430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LLM直接从全量viewpoint中选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246120" y="32556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容易产生幻觉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8334375" y="2990850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9800">
                  <a:alpha val="5000"/>
                </a:srgb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437245" y="3179445"/>
                <a:ext cx="7726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准确率约 70%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81000" y="3495675"/>
              <a:ext cx="11001375" cy="457200"/>
              <a:chOff x="381000" y="3495675"/>
              <a:chExt cx="11001375" cy="4572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81000" y="349567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1E88E5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12985" y="366807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1000125" y="349567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583531" y="3659981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无动态重规划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3143250" y="349567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3246120" y="360807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走到一半遇到障碍物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3246120" y="37604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只能从头规划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8334375" y="349567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1E88E5">
                  <a:alpha val="5000"/>
                </a:srgbClr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8437245" y="3684270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响应慢、效率低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81000" y="4000500"/>
              <a:ext cx="11001375" cy="457200"/>
              <a:chOff x="381000" y="4000500"/>
              <a:chExt cx="11001375" cy="4572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381000" y="4000500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9C27B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612985" y="41729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1000125" y="4000500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3E5F5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433512" y="41648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到达后无视觉核验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3143250" y="4000500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3246120" y="41128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机器人到了就说完成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3246120" y="426529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不确认目标是否在那里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8334375" y="4000500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9C27B0">
                  <a:alpha val="5000"/>
                </a:srgbClr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37245" y="4189095"/>
                <a:ext cx="12956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"到了但没找到"投诉多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381000" y="4505325"/>
              <a:ext cx="11001375" cy="457200"/>
              <a:chOff x="381000" y="4505325"/>
              <a:chExt cx="11001375" cy="45720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381000" y="450532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607D8B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612985" y="46777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607D8B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1000125" y="450532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ECEFF1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1433512" y="4669631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未知环境盲目探索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3143250" y="450532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3246120" y="461772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目标不在场景图中时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3246120" y="4770120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机器人原地转圈</a:t>
                </a: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8334375" y="450532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607D8B">
                  <a:alpha val="5000"/>
                </a:srgbClr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37245" y="4693920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607D8B"/>
                    </a:solidFill>
                    <a:latin typeface="Arial"/>
                    <a:ea typeface="Microsoft YaHei"/>
                    <a:cs typeface="Arial"/>
                  </a:rPr>
                  <a:t>探索效率极低</a:t>
                </a: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381000" y="5010150"/>
              <a:ext cx="11001375" cy="457200"/>
              <a:chOff x="381000" y="5010150"/>
              <a:chExt cx="11001375" cy="45720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381000" y="5010150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00BCD4">
                  <a:alpha val="8000"/>
                </a:srgbClr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612985" y="51825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0BCD4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  <p:sp>
            <p:nvSpPr>
              <p:cNvPr id="86" name="Rectangle 86"/>
              <p:cNvSpPr/>
              <p:nvPr/>
            </p:nvSpPr>
            <p:spPr>
              <a:xfrm>
                <a:off x="1000125" y="5010150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E0F7FA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1444764" y="517445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LLM缺乏常识约束</a:t>
                </a:r>
              </a:p>
            </p:txBody>
          </p:sp>
          <p:sp>
            <p:nvSpPr>
              <p:cNvPr id="88" name="Rectangle 88"/>
              <p:cNvSpPr/>
              <p:nvPr/>
            </p:nvSpPr>
            <p:spPr>
              <a:xfrm>
                <a:off x="3143250" y="5010150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3246120" y="5122545"/>
                <a:ext cx="87496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用户说"我渴了"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3246120" y="527494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可能导航到厕所而非吧台</a:t>
                </a:r>
              </a:p>
            </p:txBody>
          </p:sp>
          <p:sp>
            <p:nvSpPr>
              <p:cNvPr id="91" name="Rectangle 91"/>
              <p:cNvSpPr/>
              <p:nvPr/>
            </p:nvSpPr>
            <p:spPr>
              <a:xfrm>
                <a:off x="8334375" y="5010150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00BCD4">
                  <a:alpha val="5000"/>
                </a:srgbClr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8437245" y="5198745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0BCD4"/>
                    </a:solidFill>
                    <a:latin typeface="Arial"/>
                    <a:ea typeface="Microsoft YaHei"/>
                    <a:cs typeface="Arial"/>
                  </a:rPr>
                  <a:t>用户体验差</a:t>
                </a: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381000" y="5514975"/>
              <a:ext cx="11001375" cy="457200"/>
              <a:chOff x="381000" y="5514975"/>
              <a:chExt cx="11001375" cy="457200"/>
            </a:xfrm>
          </p:grpSpPr>
          <p:sp>
            <p:nvSpPr>
              <p:cNvPr id="94" name="Rectangle 94"/>
              <p:cNvSpPr/>
              <p:nvPr/>
            </p:nvSpPr>
            <p:spPr>
              <a:xfrm>
                <a:off x="381000" y="551497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612985" y="568737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7</a:t>
                </a:r>
              </a:p>
            </p:txBody>
          </p:sp>
          <p:sp>
            <p:nvSpPr>
              <p:cNvPr id="96" name="Rectangle 96"/>
              <p:cNvSpPr/>
              <p:nvPr/>
            </p:nvSpPr>
            <p:spPr>
              <a:xfrm>
                <a:off x="1000125" y="551497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EBEE"/>
              </a:solidFill>
              <a:ln>
                <a:noFill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1602284" y="5679281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Token成本高</a:t>
                </a:r>
              </a:p>
            </p:txBody>
          </p:sp>
          <p:sp>
            <p:nvSpPr>
              <p:cNvPr id="98" name="Rectangle 98"/>
              <p:cNvSpPr/>
              <p:nvPr/>
            </p:nvSpPr>
            <p:spPr>
              <a:xfrm>
                <a:off x="3143250" y="551497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3246120" y="5627370"/>
                <a:ext cx="17150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每步都调LLM，100米走廊调10次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3246120" y="5779770"/>
                <a:ext cx="16070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成本高、响应慢（3-5秒/步）</a:t>
                </a:r>
              </a:p>
            </p:txBody>
          </p:sp>
          <p:sp>
            <p:nvSpPr>
              <p:cNvPr id="101" name="Rectangle 101"/>
              <p:cNvSpPr/>
              <p:nvPr/>
            </p:nvSpPr>
            <p:spPr>
              <a:xfrm>
                <a:off x="8334375" y="551497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5000"/>
                </a:srgbClr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437245" y="5703570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成本高、响应慢</a:t>
                </a:r>
              </a:p>
            </p:txBody>
          </p:sp>
        </p:grpSp>
      </p:grpSp>
      <p:sp>
        <p:nvSpPr>
          <p:cNvPr id="105" name="Rectangle 105"/>
          <p:cNvSpPr/>
          <p:nvPr/>
        </p:nvSpPr>
        <p:spPr>
          <a:xfrm>
            <a:off x="381000" y="6096000"/>
            <a:ext cx="11430000" cy="428625"/>
          </a:xfrm>
          <a:prstGeom prst="roundRect">
            <a:avLst>
              <a:gd name="adj" fmla="val 17778"/>
            </a:avLst>
          </a:prstGeom>
          <a:solidFill>
            <a:srgbClr val="0D47A1">
              <a:alpha val="3000"/>
            </a:srgbClr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560070" y="6265545"/>
            <a:ext cx="48054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💡 结论：基础版能跑通核心闭环，但存在准确率、可靠性、成本三大瓶颈，需要系统性优化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5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2930" y="34480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四阶段优化路径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5312" y="697706"/>
            <a:ext cx="50016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调研2022-2026年导航领域13篇里程碑论文 · 从"能跑通"到"跑得稳准实快"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81000" y="1000125"/>
            <a:ext cx="2791408" cy="2762250"/>
            <a:chOff x="381000" y="1000125"/>
            <a:chExt cx="2791408" cy="2762250"/>
          </a:xfrm>
        </p:grpSpPr>
        <p:sp>
          <p:nvSpPr>
            <p:cNvPr id="6" name="Rectangle 6"/>
            <p:cNvSpPr/>
            <p:nvPr/>
          </p:nvSpPr>
          <p:spPr>
            <a:xfrm>
              <a:off x="381000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1565C0">
                <a:alpha val="4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190625"/>
              <a:ext cx="2714625" cy="2095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8632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第一阶段：工程守底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1565C0">
                <a:alpha val="1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1595" y="1522095"/>
              <a:ext cx="418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预计1周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1012" y="173593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目标：让机器人"跑得稳"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95300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6262" y="2021681"/>
              <a:ext cx="2596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引入：SayCan + Grounded Decoding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6262" y="2164556"/>
              <a:ext cx="2556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结构化输出校验：格式错误自动重试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6262" y="2307431"/>
              <a:ext cx="24063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可执行性评分：不可达时规则兜底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6262" y="2450306"/>
              <a:ext cx="2256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关键字段兜底：避免运行时崩溃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1012" y="2688431"/>
              <a:ext cx="2158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解决：#2幻觉选错、#7格式崩坏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120" y="2969895"/>
              <a:ext cx="15224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预期：失败率 10-15% → &lt;3%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286125" y="1000125"/>
            <a:ext cx="3303348" cy="2762250"/>
            <a:chOff x="3286125" y="1000125"/>
            <a:chExt cx="3303348" cy="2762250"/>
          </a:xfrm>
        </p:grpSpPr>
        <p:sp>
          <p:nvSpPr>
            <p:cNvPr id="22" name="Rectangle 22"/>
            <p:cNvSpPr/>
            <p:nvPr/>
          </p:nvSpPr>
          <p:spPr>
            <a:xfrm>
              <a:off x="3286125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1E88E5">
                <a:alpha val="4000"/>
              </a:srgbClr>
            </a:solidFill>
            <a:ln w="14288">
              <a:solidFill>
                <a:srgbClr val="1E88E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86125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86125" y="1190625"/>
              <a:ext cx="2714625" cy="209550"/>
            </a:xfrm>
            <a:prstGeom prst="rect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63757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第二阶段：架构升级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400425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1E88E5">
                <a:alpha val="15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461718" y="152209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预计2周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86138" y="173593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目标：让机器人"跑得准"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00425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81388" y="2021681"/>
              <a:ext cx="3108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引入：SayPlan + ConceptGraphs + VLMaps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1388" y="2164556"/>
              <a:ext cx="25038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层级规划：先选区域再选viewpoint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81388" y="2307431"/>
              <a:ext cx="22488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开放词汇场景图：CLIP向量匹配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81388" y="245030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空间语言理解：复杂方位指令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86138" y="2688431"/>
              <a:ext cx="2121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解决：#1封闭词汇、#2扁平规划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400425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84245" y="2969895"/>
              <a:ext cx="1377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预期：准确率 70% → 90%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191250" y="1000125"/>
            <a:ext cx="2714625" cy="2762250"/>
            <a:chOff x="6191250" y="1000125"/>
            <a:chExt cx="2714625" cy="2762250"/>
          </a:xfrm>
        </p:grpSpPr>
        <p:sp>
          <p:nvSpPr>
            <p:cNvPr id="38" name="Rectangle 38"/>
            <p:cNvSpPr/>
            <p:nvPr/>
          </p:nvSpPr>
          <p:spPr>
            <a:xfrm>
              <a:off x="6191250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FF9800">
                <a:alpha val="4000"/>
              </a:srgbClr>
            </a:solidFill>
            <a:ln w="14288">
              <a:solidFill>
                <a:srgbClr val="FF980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91250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91250" y="1190625"/>
              <a:ext cx="2714625" cy="20955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68882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第三阶段：闭环感知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305550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FF9800">
                <a:alpha val="1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66843" y="152209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预计2周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91262" y="173593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目标：让机器人"跑得实"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05550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86512" y="2021681"/>
              <a:ext cx="2155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引入：SayNav + CoW + PixNav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86512" y="2164556"/>
              <a:ext cx="19563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动态重规划：增量调整路径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86512" y="2307431"/>
              <a:ext cx="22863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到达后视觉核验：360°扫视确认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86512" y="245030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像素引导精调：走到面前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91262" y="2688431"/>
              <a:ext cx="20088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解决：#3无重规划、#4无核验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305550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FF9800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89370" y="2969895"/>
              <a:ext cx="12767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预期：投诉率降低 50%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096375" y="1000125"/>
            <a:ext cx="2873931" cy="2762250"/>
            <a:chOff x="9096375" y="1000125"/>
            <a:chExt cx="2873931" cy="2762250"/>
          </a:xfrm>
        </p:grpSpPr>
        <p:sp>
          <p:nvSpPr>
            <p:cNvPr id="54" name="Rectangle 54"/>
            <p:cNvSpPr/>
            <p:nvPr/>
          </p:nvSpPr>
          <p:spPr>
            <a:xfrm>
              <a:off x="9096375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9C27B0">
                <a:alpha val="4000"/>
              </a:srgbClr>
            </a:solidFill>
            <a:ln w="14288">
              <a:solidFill>
                <a:srgbClr val="9C27B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096375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096375" y="1190625"/>
              <a:ext cx="2714625" cy="209550"/>
            </a:xfrm>
            <a:prstGeom prst="rect">
              <a:avLst/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774007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第四阶段：降本增效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210675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9C27B0">
                <a:alpha val="1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71968" y="152209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预计2周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96388" y="1735931"/>
              <a:ext cx="22496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目标：让机器人"跑得快跑得省"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10675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91638" y="2021681"/>
              <a:ext cx="2186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引入：HiRO-Nav + VLFM + ESC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91638" y="2164556"/>
              <a:ext cx="2256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混合推理：平坦路段用规则引擎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91638" y="230743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定向探索：Frontier算法识别边界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91638" y="2450306"/>
              <a:ext cx="21888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常识推理：渴了→优先探索吧台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96388" y="2688431"/>
              <a:ext cx="27739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解决：#5盲目探索、#6缺常识、#7成本高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210675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9C27B0">
                <a:alpha val="10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294495" y="2969895"/>
              <a:ext cx="17177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预期：Token降60-80% 响应5x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381000" y="3905250"/>
            <a:ext cx="11430000" cy="2647950"/>
            <a:chOff x="381000" y="3905250"/>
            <a:chExt cx="11430000" cy="2647950"/>
          </a:xfrm>
        </p:grpSpPr>
        <p:sp>
          <p:nvSpPr>
            <p:cNvPr id="70" name="Rectangle 70"/>
            <p:cNvSpPr/>
            <p:nvPr/>
          </p:nvSpPr>
          <p:spPr>
            <a:xfrm>
              <a:off x="381000" y="3905250"/>
              <a:ext cx="11430000" cy="2476500"/>
            </a:xfrm>
            <a:prstGeom prst="roundRect">
              <a:avLst>
                <a:gd name="adj" fmla="val 4615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58165" y="4077652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总结：四阶段优化路径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571500" y="4333875"/>
              <a:ext cx="10858500" cy="307181"/>
              <a:chOff x="571500" y="4333875"/>
              <a:chExt cx="10858500" cy="307181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571500" y="4333875"/>
                <a:ext cx="952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75943" y="441245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1571625" y="4333875"/>
                <a:ext cx="762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1780818" y="441245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2381250" y="4333875"/>
                <a:ext cx="3619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3782913" y="44124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引入的论文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6048375" y="4333875"/>
                <a:ext cx="2667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6973788" y="44124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解决的问题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8763000" y="4333875"/>
                <a:ext cx="2667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9767173" y="4412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预期效果</a:t>
                </a: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571500" y="4686300"/>
              <a:ext cx="10858500" cy="342900"/>
              <a:chOff x="571500" y="4686300"/>
              <a:chExt cx="10858500" cy="342900"/>
            </a:xfrm>
          </p:grpSpPr>
          <p:sp>
            <p:nvSpPr>
              <p:cNvPr id="83" name="Rectangle 83"/>
              <p:cNvSpPr/>
              <p:nvPr/>
            </p:nvSpPr>
            <p:spPr>
              <a:xfrm>
                <a:off x="571500" y="4686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607D8B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910304" y="4808220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607D8B"/>
                    </a:solidFill>
                    <a:latin typeface="Arial"/>
                    <a:ea typeface="Microsoft YaHei"/>
                    <a:cs typeface="Arial"/>
                  </a:rPr>
                  <a:t>当前</a:t>
                </a:r>
              </a:p>
            </p:txBody>
          </p:sp>
          <p:sp>
            <p:nvSpPr>
              <p:cNvPr id="85" name="Rectangle 85"/>
              <p:cNvSpPr/>
              <p:nvPr/>
            </p:nvSpPr>
            <p:spPr>
              <a:xfrm>
                <a:off x="1571625" y="4686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1761172" y="4808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能跑通</a:t>
                </a:r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2381250" y="4686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2465070" y="4808220"/>
                <a:ext cx="12590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基版 LLM + 静态场景图</a:t>
                </a:r>
              </a:p>
            </p:txBody>
          </p:sp>
          <p:sp>
            <p:nvSpPr>
              <p:cNvPr id="89" name="Rectangle 89"/>
              <p:cNvSpPr/>
              <p:nvPr/>
            </p:nvSpPr>
            <p:spPr>
              <a:xfrm>
                <a:off x="6048375" y="4686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6132195" y="4808220"/>
                <a:ext cx="888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91" name="Rectangle 91"/>
              <p:cNvSpPr/>
              <p:nvPr/>
            </p:nvSpPr>
            <p:spPr>
              <a:xfrm>
                <a:off x="8763000" y="4686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8846820" y="4808220"/>
                <a:ext cx="10120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核心闭环已验证 ✓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571500" y="5067300"/>
              <a:ext cx="10858500" cy="342900"/>
              <a:chOff x="571500" y="5067300"/>
              <a:chExt cx="10858500" cy="342900"/>
            </a:xfrm>
          </p:grpSpPr>
          <p:sp>
            <p:nvSpPr>
              <p:cNvPr id="94" name="Rectangle 94"/>
              <p:cNvSpPr/>
              <p:nvPr/>
            </p:nvSpPr>
            <p:spPr>
              <a:xfrm>
                <a:off x="571500" y="5067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784288" y="5189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第一阶段</a:t>
                </a:r>
              </a:p>
            </p:txBody>
          </p:sp>
          <p:sp>
            <p:nvSpPr>
              <p:cNvPr id="96" name="Rectangle 96"/>
              <p:cNvSpPr/>
              <p:nvPr/>
            </p:nvSpPr>
            <p:spPr>
              <a:xfrm>
                <a:off x="1571625" y="5067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1761172" y="5189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跑得稳</a:t>
                </a:r>
              </a:p>
            </p:txBody>
          </p:sp>
          <p:sp>
            <p:nvSpPr>
              <p:cNvPr id="98" name="Rectangle 98"/>
              <p:cNvSpPr/>
              <p:nvPr/>
            </p:nvSpPr>
            <p:spPr>
              <a:xfrm>
                <a:off x="2381250" y="5067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2465070" y="5189220"/>
                <a:ext cx="16190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SayCan + Grounded Decoding</a:t>
                </a:r>
              </a:p>
            </p:txBody>
          </p:sp>
          <p:sp>
            <p:nvSpPr>
              <p:cNvPr id="100" name="Rectangle 100"/>
              <p:cNvSpPr/>
              <p:nvPr/>
            </p:nvSpPr>
            <p:spPr>
              <a:xfrm>
                <a:off x="6048375" y="5067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6132195" y="5189220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幻觉、格式崩坏</a:t>
                </a:r>
              </a:p>
            </p:txBody>
          </p:sp>
          <p:sp>
            <p:nvSpPr>
              <p:cNvPr id="102" name="Rectangle 102"/>
              <p:cNvSpPr/>
              <p:nvPr/>
            </p:nvSpPr>
            <p:spPr>
              <a:xfrm>
                <a:off x="8763000" y="5067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8846820" y="5189220"/>
                <a:ext cx="6844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失败率 &lt; 3%</a:t>
                </a: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571500" y="5448300"/>
              <a:ext cx="10858500" cy="342900"/>
              <a:chOff x="571500" y="5448300"/>
              <a:chExt cx="10858500" cy="342900"/>
            </a:xfrm>
          </p:grpSpPr>
          <p:sp>
            <p:nvSpPr>
              <p:cNvPr id="105" name="Rectangle 105"/>
              <p:cNvSpPr/>
              <p:nvPr/>
            </p:nvSpPr>
            <p:spPr>
              <a:xfrm>
                <a:off x="571500" y="5448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E88E5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784288" y="5570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第二阶段</a:t>
                </a:r>
              </a:p>
            </p:txBody>
          </p:sp>
          <p:sp>
            <p:nvSpPr>
              <p:cNvPr id="107" name="Rectangle 107"/>
              <p:cNvSpPr/>
              <p:nvPr/>
            </p:nvSpPr>
            <p:spPr>
              <a:xfrm>
                <a:off x="1571625" y="5448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1761172" y="5570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跑得准</a:t>
                </a:r>
              </a:p>
            </p:txBody>
          </p:sp>
          <p:sp>
            <p:nvSpPr>
              <p:cNvPr id="109" name="Rectangle 109"/>
              <p:cNvSpPr/>
              <p:nvPr/>
            </p:nvSpPr>
            <p:spPr>
              <a:xfrm>
                <a:off x="2381250" y="5448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2465070" y="5570220"/>
                <a:ext cx="20091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SayPlan + ConceptGraphs + VLMaps</a:t>
                </a:r>
              </a:p>
            </p:txBody>
          </p:sp>
          <p:sp>
            <p:nvSpPr>
              <p:cNvPr id="111" name="Rectangle 111"/>
              <p:cNvSpPr/>
              <p:nvPr/>
            </p:nvSpPr>
            <p:spPr>
              <a:xfrm>
                <a:off x="6048375" y="5448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6132195" y="557022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封闭词汇、扁平规划</a:t>
                </a:r>
              </a:p>
            </p:txBody>
          </p:sp>
          <p:sp>
            <p:nvSpPr>
              <p:cNvPr id="113" name="Rectangle 113"/>
              <p:cNvSpPr/>
              <p:nvPr/>
            </p:nvSpPr>
            <p:spPr>
              <a:xfrm>
                <a:off x="8763000" y="5448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E88E5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8846820" y="5570220"/>
                <a:ext cx="6466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准确率 90%</a:t>
                </a: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571500" y="5829300"/>
              <a:ext cx="10858500" cy="342900"/>
              <a:chOff x="571500" y="5829300"/>
              <a:chExt cx="10858500" cy="342900"/>
            </a:xfrm>
          </p:grpSpPr>
          <p:sp>
            <p:nvSpPr>
              <p:cNvPr id="116" name="Rectangle 116"/>
              <p:cNvSpPr/>
              <p:nvPr/>
            </p:nvSpPr>
            <p:spPr>
              <a:xfrm>
                <a:off x="571500" y="5829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84288" y="5951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第三阶段</a:t>
                </a:r>
              </a:p>
            </p:txBody>
          </p:sp>
          <p:sp>
            <p:nvSpPr>
              <p:cNvPr id="118" name="Rectangle 118"/>
              <p:cNvSpPr/>
              <p:nvPr/>
            </p:nvSpPr>
            <p:spPr>
              <a:xfrm>
                <a:off x="1571625" y="5829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1761172" y="5951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跑得实</a:t>
                </a:r>
              </a:p>
            </p:txBody>
          </p:sp>
          <p:sp>
            <p:nvSpPr>
              <p:cNvPr id="120" name="Rectangle 120"/>
              <p:cNvSpPr/>
              <p:nvPr/>
            </p:nvSpPr>
            <p:spPr>
              <a:xfrm>
                <a:off x="2381250" y="5829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2465070" y="5951220"/>
                <a:ext cx="12830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SayNav + CoW + PixNav</a:t>
                </a:r>
              </a:p>
            </p:txBody>
          </p:sp>
          <p:sp>
            <p:nvSpPr>
              <p:cNvPr id="122" name="Rectangle 122"/>
              <p:cNvSpPr/>
              <p:nvPr/>
            </p:nvSpPr>
            <p:spPr>
              <a:xfrm>
                <a:off x="6048375" y="5829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6132195" y="59512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无重规划、无核验</a:t>
                </a:r>
              </a:p>
            </p:txBody>
          </p:sp>
          <p:sp>
            <p:nvSpPr>
              <p:cNvPr id="124" name="Rectangle 124"/>
              <p:cNvSpPr/>
              <p:nvPr/>
            </p:nvSpPr>
            <p:spPr>
              <a:xfrm>
                <a:off x="8763000" y="5829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980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8846820" y="5951220"/>
                <a:ext cx="7726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投诉率降 50%</a:t>
                </a: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571500" y="6210300"/>
              <a:ext cx="10858500" cy="342900"/>
              <a:chOff x="571500" y="6210300"/>
              <a:chExt cx="10858500" cy="342900"/>
            </a:xfrm>
          </p:grpSpPr>
          <p:sp>
            <p:nvSpPr>
              <p:cNvPr id="127" name="Rectangle 127"/>
              <p:cNvSpPr/>
              <p:nvPr/>
            </p:nvSpPr>
            <p:spPr>
              <a:xfrm>
                <a:off x="571500" y="6210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9C27B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784288" y="6332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第四阶段</a:t>
                </a:r>
              </a:p>
            </p:txBody>
          </p:sp>
          <p:sp>
            <p:nvSpPr>
              <p:cNvPr id="129" name="Rectangle 129"/>
              <p:cNvSpPr/>
              <p:nvPr/>
            </p:nvSpPr>
            <p:spPr>
              <a:xfrm>
                <a:off x="1571625" y="6210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0" name="TextBox 130"/>
              <p:cNvSpPr txBox="1"/>
              <p:nvPr/>
            </p:nvSpPr>
            <p:spPr>
              <a:xfrm>
                <a:off x="1761172" y="6332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跑得快</a:t>
                </a:r>
              </a:p>
            </p:txBody>
          </p:sp>
          <p:sp>
            <p:nvSpPr>
              <p:cNvPr id="131" name="Rectangle 131"/>
              <p:cNvSpPr/>
              <p:nvPr/>
            </p:nvSpPr>
            <p:spPr>
              <a:xfrm>
                <a:off x="2381250" y="6210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2465070" y="6332220"/>
                <a:ext cx="13070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HiRO-Nav + VLFM + ESC</a:t>
                </a:r>
              </a:p>
            </p:txBody>
          </p:sp>
          <p:sp>
            <p:nvSpPr>
              <p:cNvPr id="133" name="Rectangle 133"/>
              <p:cNvSpPr/>
              <p:nvPr/>
            </p:nvSpPr>
            <p:spPr>
              <a:xfrm>
                <a:off x="6048375" y="6210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6132195" y="63322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成本高、盲目探索</a:t>
                </a:r>
              </a:p>
            </p:txBody>
          </p:sp>
          <p:sp>
            <p:nvSpPr>
              <p:cNvPr id="135" name="Rectangle 135"/>
              <p:cNvSpPr/>
              <p:nvPr/>
            </p:nvSpPr>
            <p:spPr>
              <a:xfrm>
                <a:off x="8763000" y="6210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9C27B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8846820" y="6332220"/>
                <a:ext cx="13397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Token降60-80% 响应5x</a:t>
                </a:r>
              </a:p>
            </p:txBody>
          </p:sp>
        </p:grpSp>
      </p:grpSp>
      <p:sp>
        <p:nvSpPr>
          <p:cNvPr id="139" name="Rectangle 139"/>
          <p:cNvSpPr/>
          <p:nvPr/>
        </p:nvSpPr>
        <p:spPr>
          <a:xfrm>
            <a:off x="381000" y="6619875"/>
            <a:ext cx="11430000" cy="19050"/>
          </a:xfrm>
          <a:prstGeom prst="rect">
            <a:avLst/>
          </a:prstGeom>
          <a:solidFill>
            <a:srgbClr val="0D47A1">
              <a:alpha val="10000"/>
            </a:srgbClr>
          </a:solidFill>
          <a:ln>
            <a:noFill/>
          </a:ln>
        </p:spPr>
      </p:sp>
      <p:sp>
        <p:nvSpPr>
          <p:cNvPr id="140" name="TextBox 140"/>
          <p:cNvSpPr txBox="1"/>
          <p:nvPr/>
        </p:nvSpPr>
        <p:spPr>
          <a:xfrm>
            <a:off x="3538895" y="6660356"/>
            <a:ext cx="5114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整体路径：从"能跑通"到"跑得稳→跑得准→跑得实→跑得快" | 预计总工期 7 周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6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7" grpId="0"/>
      <p:bldP spid="53" grpId="0"/>
      <p:bldP spid="69" grpId="0"/>
      <p:bldP spid="1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